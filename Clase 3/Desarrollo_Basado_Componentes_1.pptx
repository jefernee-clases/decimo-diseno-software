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2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2926080" cy="2926080"/>
          </a:xfrm>
          <a:prstGeom prst="ellipse">
            <a:avLst/>
          </a:prstGeom>
          <a:solidFill>
            <a:srgbClr val="00B4A6">
              <a:alpha val="20000"/>
            </a:srgbClr>
          </a:solidFill>
          <a:ln w="12700">
            <a:solidFill>
              <a:srgbClr val="00B4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A6"/>
                </a:solidFill>
              </a:rPr>
              <a:t>DUODÉCIMO AÑO  ·  INGENIERÍA DE SOFTWARE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Desarrollo Basado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en Componentes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2004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99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CEFED"/>
                </a:solidFill>
              </a:rPr>
              <a:t>Reutiliza. Combina. Construye mejor.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" y="4206240"/>
            <a:ext cx="1554480" cy="548640"/>
          </a:xfrm>
          <a:prstGeom prst="roundRect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¿Qué es?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57984" y="4206240"/>
            <a:ext cx="1554480" cy="548640"/>
          </a:xfrm>
          <a:prstGeom prst="roundRect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¿Por qué usarlo?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77056" y="4206240"/>
            <a:ext cx="1554480" cy="548640"/>
          </a:xfrm>
          <a:prstGeom prst="roundRect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Estructura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96128" y="4206240"/>
            <a:ext cx="1554480" cy="548640"/>
          </a:xfrm>
          <a:prstGeom prst="roundRect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Ejemplos reales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4206240"/>
            <a:ext cx="1554480" cy="548640"/>
          </a:xfrm>
          <a:prstGeom prst="roundRect">
            <a:avLst/>
          </a:prstGeom>
          <a:solidFill>
            <a:srgbClr val="00B4A6">
              <a:alpha val="25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4206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Práctica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¿QUÉ ES UN COMPONENTE?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4980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</a:rPr>
              <a:t>Un componente es una pieza de software independiente con una función específica que puede usarse, probarse y reutilizarse por separado.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260604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Independiente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No depende de cómo están hechos los demás. Solo expone lo que hace.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260604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Reutilizable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Se puede usar en múltiples proyectos o partes de un sistema.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65960"/>
            <a:ext cx="260604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03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Conectable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Se conecta con otros componentes a través de interfaces definidas.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CCEFED"/>
          </a:solidFill>
          <a:ln w="12700">
            <a:solidFill>
              <a:srgbClr val="CCE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451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A70"/>
                </a:solidFill>
              </a:rPr>
              <a:t>💡  Piénsalo así: cada componente tiene una entrada, hace su trabajo y produce una salida — sin importar cómo funciona por dentro.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¿POR QUÉ DESARROLLO BASADO EN COMPONENTES?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Problema que resuelve: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FFE9E9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1B1B"/>
                </a:solidFill>
              </a:rPr>
              <a:t>❌  Sin DBC: el código se repite, es difícil de mantener y un cambio en un lugar rompe otras partes del sistema.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73152" cy="1234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♻️  Reutilización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Escribe el componente una vez, úsalo en múltiples proyectos.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28800"/>
            <a:ext cx="73152" cy="1234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🧩  Mantenimiento fácil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Corregir un error en un componente lo arregla en todos los lugares donde se usa.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73152" cy="1234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55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🚀  Desarrollo más rápido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Se pueden construir sistemas complejos combinando piezas ya probadas.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4612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246120"/>
            <a:ext cx="73152" cy="1234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55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🧪  Pruebas independientes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749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Cada componente se prueba por separado antes de integrarlo al sistema.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ANATOMÍA DE UN COMPONENTE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0" y="68580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685800"/>
            <a:ext cx="365760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685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COMPONENTE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298448"/>
            <a:ext cx="338328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298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C"/>
                </a:solidFill>
              </a:rPr>
              <a:t>🔌  Interfaz (qué ofrece)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965960"/>
            <a:ext cx="338328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C"/>
                </a:solidFill>
              </a:rPr>
              <a:t>⚙️  Implementación (cómo funciona)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2633472"/>
            <a:ext cx="338328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633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C"/>
                </a:solidFill>
              </a:rPr>
              <a:t>📤  Dependencias (qué necesita)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3291840"/>
            <a:ext cx="1188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📥 Entrada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3291840"/>
            <a:ext cx="1188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📤 Salida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4315968"/>
            <a:ext cx="3657600" cy="566928"/>
          </a:xfrm>
          <a:prstGeom prst="rect">
            <a:avLst/>
          </a:prstGeom>
          <a:solidFill>
            <a:srgbClr val="CCEFED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4315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7A70"/>
                </a:solidFill>
              </a:rPr>
              <a:t>La caja negra: el usuario del componente solo ve la interfaz, no cómo funciona por dentro.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</a:rPr>
              <a:t>▸  Interfaz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1618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 que el componente promete hacer: sus funciones y datos visibles.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</a:rPr>
              <a:t>▸  Implementación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7797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El código interno. Nadie más necesita entenderlo para usarlo.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648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</a:rPr>
              <a:t>▸  Dependencias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9410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Otros componentes o servicios que necesita para funcionar.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A396">
              <a:alpha val="40000"/>
            </a:srgbClr>
          </a:solidFill>
          <a:ln w="12700">
            <a:solidFill>
              <a:srgbClr val="00A39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7A70">
              <a:alpha val="50000"/>
            </a:srgbClr>
          </a:solidFill>
          <a:ln w="12700">
            <a:solidFill>
              <a:srgbClr val="007A70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CEFED"/>
                </a:solidFill>
              </a:rPr>
              <a:t>LECCIÓN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Tipos y Ejemplos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de Componentes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CEFED"/>
                </a:solidFill>
              </a:rPr>
              <a:t>¿Cuáles existen y cómo se usan en la práctica?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TIPOS DE COMPONENTES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58368"/>
            <a:ext cx="41605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795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Componente de Interfaz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07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Gestiona lo que el usuario ve y con lo que interactúa.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1847088"/>
            <a:ext cx="3931920" cy="621792"/>
          </a:xfrm>
          <a:prstGeom prst="rect">
            <a:avLst/>
          </a:prstGeom>
          <a:solidFill>
            <a:srgbClr val="CCEFED"/>
          </a:solidFill>
          <a:ln w="12700">
            <a:solidFill>
              <a:srgbClr val="A7D7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A70"/>
                </a:solidFill>
              </a:rPr>
              <a:t>Ej: Botón, formulario, menú de navegación, cuadro de búsqueda.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658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658368"/>
            <a:ext cx="41605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74980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795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Componente de Negocio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04688" y="1207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Contiene las reglas y procesos principales del sistema.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37176" y="1847088"/>
            <a:ext cx="3931920" cy="621792"/>
          </a:xfrm>
          <a:prstGeom prst="rect">
            <a:avLst/>
          </a:prstGeom>
          <a:solidFill>
            <a:srgbClr val="CCEFED"/>
          </a:solidFill>
          <a:ln w="12700">
            <a:solidFill>
              <a:srgbClr val="A7D7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8470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A70"/>
                </a:solidFill>
              </a:rPr>
              <a:t>Ej: Módulo de cálculo de precio, validación de stock, registro de usuarios.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07208"/>
            <a:ext cx="41605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9864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97280" y="2944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Componente de Datos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3558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Se encarga de guardar, leer y actualizar información.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3995928"/>
            <a:ext cx="3931920" cy="621792"/>
          </a:xfrm>
          <a:prstGeom prst="rect">
            <a:avLst/>
          </a:prstGeom>
          <a:solidFill>
            <a:srgbClr val="CCEFED"/>
          </a:solidFill>
          <a:ln w="12700">
            <a:solidFill>
              <a:srgbClr val="A7D7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A70"/>
                </a:solidFill>
              </a:rPr>
              <a:t>Ej: Componente que lee/escribe en una base de datos o archivo.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8072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2807208"/>
            <a:ext cx="41605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289864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04688" y="2944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Componente de Servicio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04688" y="33558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Se conecta con sistemas externos para obtener o enviar información.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37176" y="3995928"/>
            <a:ext cx="3931920" cy="621792"/>
          </a:xfrm>
          <a:prstGeom prst="rect">
            <a:avLst/>
          </a:prstGeom>
          <a:solidFill>
            <a:srgbClr val="CCEFED"/>
          </a:solidFill>
          <a:ln w="12700">
            <a:solidFill>
              <a:srgbClr val="A7D7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A70"/>
                </a:solidFill>
              </a:rPr>
              <a:t>Ej: Componente que consulta el clima, procesa pagos o envía correos.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EJEMPLO REAL — SISTEMA DE TIENDA EN LÍNEA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Un sistema real se construye conectando componentes: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508760" cy="14173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1508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🛍️ Catálogo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de Productos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39112" y="1115568"/>
            <a:ext cx="1508760" cy="141732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39112" y="1115568"/>
            <a:ext cx="1508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2344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🛒 Carrito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de Compras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58184" y="1115568"/>
            <a:ext cx="1508760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58184" y="1115568"/>
            <a:ext cx="1508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2344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💳 Pago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Facturación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7256" y="1115568"/>
            <a:ext cx="1508760" cy="141732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77256" y="1115568"/>
            <a:ext cx="1508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12344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📦 Inventario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y Stock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96328" y="1115568"/>
            <a:ext cx="150876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96328" y="1115568"/>
            <a:ext cx="1508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12344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📧 Notificaciones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por Correo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0" y="1828800"/>
            <a:ext cx="210312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1828800"/>
            <a:ext cx="210312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828800"/>
            <a:ext cx="210312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828800"/>
            <a:ext cx="210312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</a:rPr>
              <a:t>▸ Catálogo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Muestra productos, precios y fotos. El cliente navega y elige.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39112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</a:rPr>
              <a:t>▸ Carrito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39112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Guarda los productos seleccionados. Calcula el total.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58184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</a:rPr>
              <a:t>▸ Pago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58184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Procesa el cobro. Se conecta con el banco o pasarela de pago.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7256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</a:rPr>
              <a:t>▸ Inventario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77256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Reduce el stock al confirmar la compra. Lanza alerta si hay pocas unidades.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96328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</a:rPr>
              <a:t>▸ Notificaciones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96328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Envía el correo de confirmación al cliente automáticamente.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25112"/>
            <a:ext cx="850392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251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📌  Cada componente se puede desarrollar, probar y mejorar de forma independiente. Si el sistema de pago falla, el catálogo sigue funcionando.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LA INTERFAZ — EL CONTRATO DEL COMPONENTE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</a:rPr>
              <a:t>La interfaz define QUÉ hace el componente, no CÓMO lo hace.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886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3886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Componente Proveedor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</a:rPr>
              <a:t>Publica su interfaz: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4ED8"/>
                </a:solidFill>
              </a:rPr>
              <a:t>✅  calcularTotal(productos)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4ED8"/>
                </a:solidFill>
              </a:rPr>
              <a:t>✅  aplicarDescuento(codigo)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4ED8"/>
                </a:solidFill>
              </a:rPr>
              <a:t>✅  obtenerResumen()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Lo que hay adentro permanece oculto.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834640"/>
            <a:ext cx="731520" cy="0"/>
          </a:xfrm>
          <a:prstGeom prst="line">
            <a:avLst/>
          </a:prstGeom>
          <a:noFill/>
          <a:ln w="381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</a:rPr>
              <a:t>usa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1078992"/>
            <a:ext cx="3886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078992"/>
            <a:ext cx="38862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0789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 Componente Consumidor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Usa las funciones sin conocer el código interno: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212848"/>
            <a:ext cx="365760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21284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</a:rPr>
              <a:t>carrito.calcularTotal(misProductos)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2807208"/>
            <a:ext cx="365760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80720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</a:rPr>
              <a:t>carrito.aplicarDescuento('DESC20')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401568"/>
            <a:ext cx="365760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4015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28D9"/>
                </a:solidFill>
              </a:rPr>
              <a:t>carrito.obtenerResumen()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Solo necesita saber QUÉ hace, no CÓMO.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DBC vs DESARROLLO TRADICIONAL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1691640" cy="6675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66928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566928"/>
            <a:ext cx="3429000" cy="667512"/>
          </a:xfrm>
          <a:prstGeom prst="rect">
            <a:avLst/>
          </a:prstGeom>
          <a:solidFill>
            <a:srgbClr val="7F1D1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56692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Desarrollo Tradicional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40680" y="566928"/>
            <a:ext cx="3429000" cy="667512"/>
          </a:xfrm>
          <a:prstGeom prst="rect">
            <a:avLst/>
          </a:prstGeom>
          <a:solidFill>
            <a:srgbClr val="14532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56692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DBC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1691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34440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Código repetido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234440"/>
            <a:ext cx="3429000" cy="66751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23444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</a:rPr>
              <a:t>Sí — se copia y pega en cada parte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1234440"/>
            <a:ext cx="34290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23444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</a:rPr>
              <a:t>No — se reutiliza el mismo componente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01952"/>
            <a:ext cx="1691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01952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Mantenimiento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1901952"/>
            <a:ext cx="3429000" cy="66751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901952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</a:rPr>
              <a:t>Un cambio puede romper todo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901952"/>
            <a:ext cx="34290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901952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</a:rPr>
              <a:t>Se actualiza el componente sin afectar otros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569464"/>
            <a:ext cx="1691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69464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Pruebas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2569464"/>
            <a:ext cx="3429000" cy="66751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569464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</a:rPr>
              <a:t>Hay que probar el sistema entero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0680" y="2569464"/>
            <a:ext cx="34290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569464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</a:rPr>
              <a:t>Cada componente se prueba por separado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236976"/>
            <a:ext cx="1691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36976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Velocidad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0" y="3236976"/>
            <a:ext cx="3429000" cy="66751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236976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</a:rPr>
              <a:t>Construir todo desde cero siempre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3236976"/>
            <a:ext cx="34290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236976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</a:rPr>
              <a:t>Combinar componentes existentes y probados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904488"/>
            <a:ext cx="1691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04488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Trabajo en equipo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0" y="3904488"/>
            <a:ext cx="3429000" cy="66751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0" y="390448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</a:rPr>
              <a:t>Conflictos al editar el mismo código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3904488"/>
            <a:ext cx="3429000" cy="6675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90448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</a:rPr>
              <a:t>Cada equipo trabaja su propio componente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A6"/>
                </a:solidFill>
              </a:rPr>
              <a:t>DBC EN TECNOLOGÍAS REALES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Estas tecnologías y plataformas usan DBC hoy en día: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8288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69848" y="1207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React / Vue / Angular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18488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Frameworks de desarrollo web.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Cada parte de la pantalla (botón, menú, tarjeta) es un componente independiente.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1097280"/>
            <a:ext cx="4160520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097280"/>
            <a:ext cx="41605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1887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77256" y="1207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Microservicios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77256" y="1618488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Arquitectura de sistemas grandes.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202996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Cada función del sistema (autenticación, pedidos, pagos) vive en un servicio separado.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60520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004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69848" y="3218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SAP / Salesforce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3630168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Software empresarial modular.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Las empresas activan solo los módulos que necesitan: ventas, contabilidad, bodega.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3108960"/>
            <a:ext cx="4160520" cy="182880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3108960"/>
            <a:ext cx="4160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2004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77256" y="3218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Android / iOS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3630168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Desarrollo de aplicaciones móviles.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40416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Cada pantalla y elemento visual de la app es un componente reutilizable.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A6">
              <a:alpha val="15000"/>
            </a:srgbClr>
          </a:solidFill>
          <a:ln w="12700">
            <a:solidFill>
              <a:srgbClr val="00B4A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0B4A6">
              <a:alpha val="20000"/>
            </a:srgbClr>
          </a:solidFill>
          <a:ln w="12700">
            <a:solidFill>
              <a:srgbClr val="00B4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4A6"/>
                </a:solidFill>
              </a:rPr>
              <a:t>LO QUE APRENDISTE HOY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502920" cy="8686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8686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Un componente: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es una pieza de software independiente, con función específica, interfaz definida y reutilizable.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01368"/>
            <a:ext cx="502920" cy="8686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0136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9280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Los 4 tipos: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son: interfaz (UI), negocio (lógica), datos (almacenamiento) y servicio (conexión externa).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25496"/>
            <a:ext cx="85039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25496"/>
            <a:ext cx="502920" cy="8686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2549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La interfaz: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es el contrato: define qué hace el componente sin revelar cómo lo hace.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49624"/>
            <a:ext cx="41605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49624"/>
            <a:ext cx="502920" cy="8686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4962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41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DBC vs Tradicional: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88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DBC reduce código repetido, facilita el mantenimiento y permite trabajo en paralelo.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3849624"/>
            <a:ext cx="41605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3849624"/>
            <a:ext cx="502920" cy="8686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84962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F3D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941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</a:rPr>
              <a:t>Uso real: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4288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AF0"/>
                </a:solidFill>
              </a:rPr>
              <a:t>React, microservicios, apps móviles y ERP empresariales usan DBC a gran escala.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Presentación en pantalla (16:9)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Basado en Componentes</dc:title>
  <dc:subject>PptxGenJS Presentation</dc:subject>
  <dc:creator>PptxGenJS</dc:creator>
  <cp:lastModifiedBy>antoyefruizg04@gmail.com</cp:lastModifiedBy>
  <cp:revision>1</cp:revision>
  <dcterms:created xsi:type="dcterms:W3CDTF">2026-03-24T22:09:11Z</dcterms:created>
  <dcterms:modified xsi:type="dcterms:W3CDTF">2026-03-24T22:18:51Z</dcterms:modified>
</cp:coreProperties>
</file>