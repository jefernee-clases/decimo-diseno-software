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de entrada: ¿quién tiene archivos tipo "proyecto_FINAL_v2_AHORA_SI.zip"? De ese dolor nació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Dato: Git lo creó Linus Torvalds (el de Linux) en 2005, y hoy lo usa prácticamente toda la industria del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Analogía útil: Git es como la cámara de fotos; GitHub es como el álbum en la nube donde se comparten. Hoy casi todo lo haremos con la cámara, sin necesidad de nube.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rápida si hay proyector: abrir un .html con el Bloc de notas (se lee) y un .docx (aparecen símbolos raros). Esa es la diferencia.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Repartir la Guía de instalación impresa. Los instaladores van en USB o carpeta compartida: Git para Windows y VS Code, descargados previamente. Aclarar que el correo no tiene que ser real: es solo la firma de los commits.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diagrama es EL corazón de Git. Dibujarlo también en la pizarra y dejarlo ahí toda la lección.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analogía de la cámara ayuda a que caigan solos. El comando git log --oneline (versión resumida) aparece en la práctica.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el README como comunicación escrita técnica: claridad y precisión aplicadas. El repositorio con buen README es una carta de presentación laboral.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tres comandos bastan para todo el flujo de la práctica final: clonar, subir su archivo y traerse el de las demás parejas.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Preparación previa: crear la carpeta compartida con permisos de escritura, correr git init --bare y probar un push desde una máquina antes de la clase. Si la conexión del laboratorio lo permite ese día, se hace lo mismo contra github.com.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Conexión con la unidad de comunicación escrita: claridad, precisión y concisión aplican también dentro del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1: láminas 1-4 + práctica 1. Lección 2: lámina 5 + práctica 2. Lección 3: láminas 6-7 y 9 + práctica 3. Lección 4: lámina 8 + práctica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114800" cy="411480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9202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y GitHub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22960" y="32918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y versionamiento para proyectos de desarrollo web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5394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Web  ·  Décimo año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Git?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57800" cy="4846320"/>
          </a:xfrm>
          <a:prstGeom prst="roundRect">
            <a:avLst>
              <a:gd name="adj" fmla="val 2264"/>
            </a:avLst>
          </a:prstGeom>
          <a:solidFill>
            <a:srgbClr val="FBEBEB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0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de siempre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60120" y="22860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pagina.html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pagina_v2.html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pagina_FINAL.html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pagina_FINAL_corregido.html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pagina_FINAL_AHORA_SI.html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4297680"/>
            <a:ext cx="4617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buena? ¿Qué cambió entre una y otra? ¿Quién hizo el cambio que dañó todo? Nadie sabe.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257800" cy="4846320"/>
          </a:xfrm>
          <a:prstGeom prst="roundRect">
            <a:avLst>
              <a:gd name="adj" fmla="val 2264"/>
            </a:avLst>
          </a:prstGeom>
          <a:solidFill>
            <a:srgbClr val="EAF3E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solución: Git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83680" y="228600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es un sistema de control de versiones: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programa que guarda "fotografías" (commits) de su proyecto cada vez que usted lo decide.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361188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solo archivo usted puede: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historial completo de cambios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quién cambió qué y cuándo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Volver a cualquier versión anterior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en equipo sin pisarse el trabajo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y su ecosistema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57800" cy="2651760"/>
          </a:xfrm>
          <a:prstGeom prst="roundRect">
            <a:avLst>
              <a:gd name="adj" fmla="val 4138"/>
            </a:avLst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737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005840" y="2514600"/>
            <a:ext cx="4526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programa. Vive en su computadora y guarda las versiones del proyecto en un repositorio local.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309360" y="1463040"/>
            <a:ext cx="5257800" cy="2651760"/>
          </a:xfrm>
          <a:prstGeom prst="roundRect">
            <a:avLst>
              <a:gd name="adj" fmla="val 4138"/>
            </a:avLst>
          </a:prstGeom>
          <a:solidFill>
            <a:srgbClr val="F4F7F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8308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06640" y="1737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6675120" y="2514600"/>
            <a:ext cx="4526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servicio en la nube. Es como un "Google Drive para repositorios Git": permite guardar una copia en línea, compartirla y colaborar.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40080" y="4297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SIN GitHub funciona perfectamente. GitHub SIN Git no existe.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4892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ecosistema alrededor: alternativas a GitHub (GitLab, Bitbucket), editores que integran Git (VS Code), y la terminal donde se escriben los comandos. Todos giran alrededor del mismo Git.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Texto plano, binarios y editores de código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57800" cy="2514600"/>
          </a:xfrm>
          <a:prstGeom prst="roundRect">
            <a:avLst>
              <a:gd name="adj" fmla="val 4364"/>
            </a:avLst>
          </a:prstGeom>
          <a:solidFill>
            <a:srgbClr val="EAF3E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16916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Texto plano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05840" y="242316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que son solo caracteres: .html, .css, .js, .txt. Se abren con cualquier editor y Git puede comparar línea por línea qué cambió.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09360" y="1463040"/>
            <a:ext cx="5257800" cy="2514600"/>
          </a:xfrm>
          <a:prstGeom prst="roundRect">
            <a:avLst>
              <a:gd name="adj" fmla="val 4364"/>
            </a:avLst>
          </a:prstGeom>
          <a:solidFill>
            <a:srgbClr val="FBEBE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3736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60920" y="16916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Binarios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675120" y="242316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codificados: fotos (.jpg, .png), Word (.docx), audio, .exe. Git los guarda, pero no puede mostrar qué cambió adentro.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el código web se escribe en editores de código, no en Word: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0080" y="47548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Code: </a:t>
            </a:r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más usado; integra Git y terminal en la misma ventana.   ·   </a:t>
            </a:r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Alternativas: </a:t>
            </a:r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Notepad++ (liviano), Sublime Text, e incluso el Bloc de notas en emergencias. Word NO sirve: guarda binario, no texto plano.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66928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5029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Instalación de Git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22960" y="1554480"/>
            <a:ext cx="105156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1051560" y="17830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965960" y="171907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Ejecutar el instalador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965960" y="210312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para Windows. Las opciones por defecto sirven: "Next" hasta el final.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2743200"/>
            <a:ext cx="1051560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1051560" y="29718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2971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965960" y="290779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965960" y="329184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Git Bash y escribir el comando. Si responde con un número de versión, quedó instalado.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965960" y="3703320"/>
            <a:ext cx="9052560" cy="438912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2960" y="4498848"/>
            <a:ext cx="10515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1051560" y="4727448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47274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965960" y="466344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Presentarse ante Git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965960" y="504748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la firma de sus commits (una sola vez por computadora):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965960" y="5458968"/>
            <a:ext cx="9052560" cy="438912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"Su Nombre"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965960" y="5989320"/>
            <a:ext cx="9052560" cy="438912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"su@correo.com"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piensa Git: las tres zonas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59536" y="1737360"/>
            <a:ext cx="3200400" cy="3566160"/>
          </a:xfrm>
          <a:prstGeom prst="roundRect">
            <a:avLst>
              <a:gd name="adj" fmla="val 3429"/>
            </a:avLst>
          </a:prstGeom>
          <a:solidFill>
            <a:srgbClr val="F4F7F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0116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9576" y="26517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Carpeta de trabajo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179576" y="34747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usted edita sus archivos normalmente.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837176" y="1737360"/>
            <a:ext cx="3200400" cy="3566160"/>
          </a:xfrm>
          <a:prstGeom prst="roundRect">
            <a:avLst>
              <a:gd name="adj" fmla="val 3429"/>
            </a:avLst>
          </a:prstGeom>
          <a:solidFill>
            <a:srgbClr val="FFF6E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216" y="20116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57216" y="26517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 de preparación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5157216" y="34747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"bandeja": los cambios listos para la próxima fotografía.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157216" y="4526280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7DEF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814816" y="1737360"/>
            <a:ext cx="3200400" cy="3566160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856" y="20116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34856" y="26517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9134856" y="34747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álbum: todas las fotografías (commits) guardadas para siempre.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9134856" y="4526280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7DEF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133088" y="3200400"/>
            <a:ext cx="640080" cy="457200"/>
          </a:xfrm>
          <a:prstGeom prst="rightArrow">
            <a:avLst/>
          </a:prstGeom>
          <a:solidFill>
            <a:srgbClr val="9DB4E6"/>
          </a:solidFill>
          <a:ln/>
        </p:spPr>
      </p:sp>
      <p:sp>
        <p:nvSpPr>
          <p:cNvPr id="18" name="Shape 13"/>
          <p:cNvSpPr/>
          <p:nvPr/>
        </p:nvSpPr>
        <p:spPr>
          <a:xfrm>
            <a:off x="8110728" y="3200400"/>
            <a:ext cx="640080" cy="457200"/>
          </a:xfrm>
          <a:prstGeom prst="rightArrow">
            <a:avLst/>
          </a:prstGeom>
          <a:solidFill>
            <a:srgbClr val="9DB4E6"/>
          </a:solidFill>
          <a:ln/>
        </p:spPr>
      </p:sp>
      <p:sp>
        <p:nvSpPr>
          <p:cNvPr id="19" name="Text 14"/>
          <p:cNvSpPr/>
          <p:nvPr/>
        </p:nvSpPr>
        <p:spPr>
          <a:xfrm>
            <a:off x="859536" y="5623560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 completa: usted cocina en la carpeta de trabajo, acomoda los platos en la bandeja con git add, y con git commit les toma la fotografía que queda en el álbum para siempre.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Operaciones esenciales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480560"/>
                <a:gridCol w="3200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hace?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Analogía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init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Convierte una carpeta en repositorio: Git empieza a vigilarla.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Estrenar el álbum de fotos.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status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Muestra qué archivos cambiaron y qué hay en la bandeja.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Preguntar: ¿qué hay nuevo por aquí?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add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Pone los cambios en la zona de preparación.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Acomodar los platos en la bandeja.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commit -m "mensaje"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Guarda la fotografía con un mensaje que la describe.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Disparar la cámara y rotular la foto.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log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Muestra el historial: quién hizo cada cambio, cuándo y qué.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Hojear el álbum completo.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que memorizarlos en frío: la práctica de esta lección los usa todos, en este mismo orden.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457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GitHub?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servicio en la nube donde viven copias de repositorios Git. Permite guardar el proyecto en línea, compartirlo, colaborar con otras personas y mostrar su trabajo al mundo (los desarrolladores lo usan como portafolio).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23774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4F7FD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25603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cuenta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60120" y="306324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Gratuita. Su nombre de usuario se vuelve su identidad profesional: github.com/su-usuario.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09360" y="23774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4F7FD"/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25603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repositorio remoto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629400" y="306324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copia de su proyecto que vive en GitHub. Su compu tiene la copia local; GitHub, la remota. Se sincronizan con push y pull.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438912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4F7FD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45720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Público o privado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60120" y="507492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Público: cualquiera puede verlo (ideal para portafolio). Privado: solo usted y quien usted invite.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09360" y="438912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4F7FD"/>
          </a:solidFill>
          <a:ln/>
        </p:spPr>
      </p:sp>
      <p:sp>
        <p:nvSpPr>
          <p:cNvPr id="15" name="Text 12"/>
          <p:cNvSpPr/>
          <p:nvPr/>
        </p:nvSpPr>
        <p:spPr>
          <a:xfrm>
            <a:off x="6629400" y="45720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README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629400" y="507492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 texto (README.md) que explica qué es el proyecto, cómo usarlo y quién lo hizo. Es la portada del repositorio: GitHub lo muestra de primero.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del ecosistema que hacen lo mismo: GitLab y Bitbucket. Quien domina GitHub domina cualquiera.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Comandos para trabajar con el remoto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4F7F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83080"/>
            <a:ext cx="297180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una copia completa de un repositorio remoto, con todo su historial.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una sola vez, al empezar a trabajar en un proyecto.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47091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Fotocopiar el álbum entero.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16552" y="146304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4F7FD"/>
          </a:solidFill>
          <a:ln/>
        </p:spPr>
      </p:sp>
      <p:sp>
        <p:nvSpPr>
          <p:cNvPr id="9" name="Text 7"/>
          <p:cNvSpPr/>
          <p:nvPr/>
        </p:nvSpPr>
        <p:spPr>
          <a:xfrm>
            <a:off x="4690872" y="1783080"/>
            <a:ext cx="297180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90872" y="256032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(empuja) sus commits locales al remoto para compartirlos con el equipo.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90872" y="37490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cada vez que quiere publicar su trabajo.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90872" y="47091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sus fotos al álbum compartido.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93024" y="146304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4F7FD"/>
          </a:solidFill>
          <a:ln/>
        </p:spPr>
      </p:sp>
      <p:sp>
        <p:nvSpPr>
          <p:cNvPr id="14" name="Text 12"/>
          <p:cNvSpPr/>
          <p:nvPr/>
        </p:nvSpPr>
        <p:spPr>
          <a:xfrm>
            <a:off x="8467344" y="1783080"/>
            <a:ext cx="297180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67344" y="256032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(jala) los commits nuevos que otras personas subieron al remoto.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67344" y="37490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antes de empezar a trabajar cada día.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67344" y="47091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Traerse las fotos nuevas de los demás.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 del trabajo en equipo: pull antes de empezar, push al terminar. Así nadie trabaja sobre una versión vieja.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840480" cy="38404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5486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"GitHub de aula"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22960" y="1508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repositorio remoto también puede vivir en la carpeta compartida del laboratorio. Los comandos son exactamente los mismos que con github.com: solo cambia la dirección.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22960" y="242316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1024128" y="25603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1024128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783080" y="2423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el remoto del aula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46520" y="2587752"/>
            <a:ext cx="4663440" cy="493776"/>
          </a:xfrm>
          <a:prstGeom prst="roundRect">
            <a:avLst>
              <a:gd name="adj" fmla="val 14815"/>
            </a:avLst>
          </a:prstGeom>
          <a:solidFill>
            <a:srgbClr val="EEF1F8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--bare cafeteria.git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338328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1024128" y="3520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1024128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783080" y="33832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pareja lo clona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46520" y="3547872"/>
            <a:ext cx="4663440" cy="493776"/>
          </a:xfrm>
          <a:prstGeom prst="roundRect">
            <a:avLst>
              <a:gd name="adj" fmla="val 14815"/>
            </a:avLst>
          </a:prstGeom>
          <a:solidFill>
            <a:srgbClr val="EEF1F8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\\servidor\compartida\cafeteria.git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2960" y="434340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1024128" y="4480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1024128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783080" y="4343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Trabajan y suben sus commits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46520" y="4507992"/>
            <a:ext cx="4663440" cy="493776"/>
          </a:xfrm>
          <a:prstGeom prst="roundRect">
            <a:avLst>
              <a:gd name="adj" fmla="val 14815"/>
            </a:avLst>
          </a:prstGeom>
          <a:solidFill>
            <a:srgbClr val="EEF1F8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22960" y="530352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1024128" y="5440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0"/>
          <p:cNvSpPr/>
          <p:nvPr/>
        </p:nvSpPr>
        <p:spPr>
          <a:xfrm>
            <a:off x="1024128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783080" y="53035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traen lo de las otras parejas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446520" y="5468112"/>
            <a:ext cx="4663440" cy="493776"/>
          </a:xfrm>
          <a:prstGeom prst="roundRect">
            <a:avLst>
              <a:gd name="adj" fmla="val 14815"/>
            </a:avLst>
          </a:prstGeom>
          <a:solidFill>
            <a:srgbClr val="EEF1F8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aprendido sirve idéntico para ambos mundos: quien domina el remoto del aula, domina GitHub.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arte del buen commit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mensaje del commit es comunicación escrita para su equipo (¡y para usted en 6 meses!). Debe ser claro, preciso y conciso.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257800" cy="3383280"/>
          </a:xfrm>
          <a:prstGeom prst="roundRect">
            <a:avLst>
              <a:gd name="adj" fmla="val 3243"/>
            </a:avLst>
          </a:prstGeom>
          <a:solidFill>
            <a:srgbClr val="FBEBE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Mensajes que no dicen nada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301752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"cambios"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"arreglos varios"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"ahora si"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"asdfgh"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"version final 2"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2194560"/>
            <a:ext cx="5257800" cy="3383280"/>
          </a:xfrm>
          <a:prstGeom prst="roundRect">
            <a:avLst>
              <a:gd name="adj" fmla="val 3243"/>
            </a:avLst>
          </a:prstGeom>
          <a:solidFill>
            <a:srgbClr val="EAF3E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Mensajes que informan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301752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"Agrega menú de navegación al inicio"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"Corrige color del botón de contacto"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"Elimina imágenes que no se usaban"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"Cambia tipografía de los títulos"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"Agrega sección de horarios"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Truco: un buen mensaje completa la frase "Este commit... [agrega el menú de navegación]". Verbo + qué + dónde.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645920"/>
            <a:ext cx="4389120" cy="438912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Manos a la obra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prácticas formativas (sin puntaje), una por lección: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2185416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21854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2103120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de papel  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equipos: construir a mano el historial de versiones de una página. Sin computadora.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3090672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" y="321868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32186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28800" y="3136392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guiada  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Git y VS Code siguiendo la guía paso a paso, con checklist de verificación.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22960" y="4123944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4128" y="425196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128" y="4251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28800" y="4169664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primer repositorio  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parejas: versionar una página HTML real con init, add, commit, log y diff.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22960" y="5157216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4128" y="5285232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128" y="52852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828800" y="5202936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repositorio viaja  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Clone, push y pull contra el repositorio del aula o GitHub + revisión de cambios entre equipos.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 de las 4 lecciones: cada pareja tendrá un proyecto real con historial de versiones, hecho por ustedes.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2026-07-21T22:17:48Z</dcterms:created>
  <dcterms:modified xsi:type="dcterms:W3CDTF">2026-07-21T22:17:48Z</dcterms:modified>
</cp:coreProperties>
</file>