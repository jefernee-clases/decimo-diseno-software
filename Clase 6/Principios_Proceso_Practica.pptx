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8932F"/>
          </a:solidFill>
          <a:ln w="12700">
            <a:solidFill>
              <a:srgbClr val="C89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280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9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Principios que guían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proceso y la práctica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3429000"/>
            <a:ext cx="731520" cy="36576"/>
          </a:xfrm>
          <a:prstGeom prst="rect">
            <a:avLst/>
          </a:prstGeom>
          <a:solidFill>
            <a:srgbClr val="C8932F"/>
          </a:solidFill>
          <a:ln w="12700">
            <a:solidFill>
              <a:srgbClr val="C893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11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Principios que guían el proceso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886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Principios que guían la práctica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617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CTP San Pedro de Barva  ·  Lic. Jefernee Ruiz García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9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VISTA GENERAL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8 principios del proceso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" cy="36576"/>
          </a:xfrm>
          <a:prstGeom prst="rect">
            <a:avLst/>
          </a:prstGeom>
          <a:solidFill>
            <a:srgbClr val="C8932F"/>
          </a:solidFill>
          <a:ln w="12700">
            <a:solidFill>
              <a:srgbClr val="C893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Pressman propone ocho principios que guían cómo el equipo organiza y ejecuta el proceso de software: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011680" cy="1371600"/>
          </a:xfrm>
          <a:prstGeom prst="rect">
            <a:avLst/>
          </a:prstGeom>
          <a:solidFill>
            <a:srgbClr val="F4F6F8"/>
          </a:solidFill>
          <a:ln w="6350">
            <a:solidFill>
              <a:srgbClr val="E0E5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874520"/>
            <a:ext cx="457200" cy="457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ágil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87752" y="1691640"/>
            <a:ext cx="2011680" cy="1371600"/>
          </a:xfrm>
          <a:prstGeom prst="rect">
            <a:avLst/>
          </a:prstGeom>
          <a:solidFill>
            <a:srgbClr val="F4F6F8"/>
          </a:solidFill>
          <a:ln w="6350">
            <a:solidFill>
              <a:srgbClr val="E0E5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24912" y="1874520"/>
            <a:ext cx="457200" cy="457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491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24912" y="2423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Concéntrese en la calidad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18304" y="1691640"/>
            <a:ext cx="2011680" cy="1371600"/>
          </a:xfrm>
          <a:prstGeom prst="rect">
            <a:avLst/>
          </a:prstGeom>
          <a:solidFill>
            <a:srgbClr val="F4F6F8"/>
          </a:solidFill>
          <a:ln w="6350">
            <a:solidFill>
              <a:srgbClr val="E0E5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55464" y="1874520"/>
            <a:ext cx="457200" cy="457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55464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55464" y="2423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Esté listo para adaptarse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48856" y="1691640"/>
            <a:ext cx="2011680" cy="1371600"/>
          </a:xfrm>
          <a:prstGeom prst="rect">
            <a:avLst/>
          </a:prstGeom>
          <a:solidFill>
            <a:srgbClr val="F4F6F8"/>
          </a:solidFill>
          <a:ln w="6350">
            <a:solidFill>
              <a:srgbClr val="E0E5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86016" y="1874520"/>
            <a:ext cx="457200" cy="457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86016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86016" y="2423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 un equipo eficaz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3200400"/>
            <a:ext cx="2011680" cy="1371600"/>
          </a:xfrm>
          <a:prstGeom prst="rect">
            <a:avLst/>
          </a:prstGeom>
          <a:solidFill>
            <a:srgbClr val="F4F6F8"/>
          </a:solidFill>
          <a:ln w="6350">
            <a:solidFill>
              <a:srgbClr val="E0E5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3383280"/>
            <a:ext cx="457200" cy="457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4360" y="3931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y coordinación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587752" y="3200400"/>
            <a:ext cx="2011680" cy="1371600"/>
          </a:xfrm>
          <a:prstGeom prst="rect">
            <a:avLst/>
          </a:prstGeom>
          <a:solidFill>
            <a:srgbClr val="F4F6F8"/>
          </a:solidFill>
          <a:ln w="6350">
            <a:solidFill>
              <a:srgbClr val="E0E5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24912" y="3383280"/>
            <a:ext cx="457200" cy="457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24912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724912" y="3931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Administre el cambio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718304" y="3200400"/>
            <a:ext cx="2011680" cy="1371600"/>
          </a:xfrm>
          <a:prstGeom prst="rect">
            <a:avLst/>
          </a:prstGeom>
          <a:solidFill>
            <a:srgbClr val="F4F6F8"/>
          </a:solidFill>
          <a:ln w="6350">
            <a:solidFill>
              <a:srgbClr val="E0E5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55464" y="3383280"/>
            <a:ext cx="457200" cy="457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55464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855464" y="3931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Evalúe el riesgo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848856" y="3200400"/>
            <a:ext cx="2011680" cy="1371600"/>
          </a:xfrm>
          <a:prstGeom prst="rect">
            <a:avLst/>
          </a:prstGeom>
          <a:solidFill>
            <a:srgbClr val="F4F6F8"/>
          </a:solidFill>
          <a:ln w="6350">
            <a:solidFill>
              <a:srgbClr val="E0E5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86016" y="3383280"/>
            <a:ext cx="457200" cy="457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86016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86016" y="3931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 productos de valor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57200" y="46177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Pressman — Ingeniería del Software, un enfoque práctico.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Diseño de Software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9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DETALLE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Principios del proceso · 1 a 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" cy="36576"/>
          </a:xfrm>
          <a:prstGeom prst="rect">
            <a:avLst/>
          </a:prstGeom>
          <a:solidFill>
            <a:srgbClr val="C8932F"/>
          </a:solidFill>
          <a:ln w="12700">
            <a:solidFill>
              <a:srgbClr val="C893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8229600" cy="1066800"/>
          </a:xfrm>
          <a:prstGeom prst="rect">
            <a:avLst/>
          </a:prstGeom>
          <a:solidFill>
            <a:srgbClr val="F4F6F8"/>
          </a:solidFill>
          <a:ln w="6350">
            <a:solidFill>
              <a:srgbClr val="E0E5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868680" cy="1066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86868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508760" y="1371600"/>
            <a:ext cx="7086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ágil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508760" y="1691640"/>
            <a:ext cx="7086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cual sea el modelo de proceso elegido, las características de un proceso ágil deben gobernar el enfoque: eliminar burocracia innecesaria, mantener al equipo maniobrable y dispuesto a responder al cambio sin perder velocidad ni entregar tarde.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438400"/>
            <a:ext cx="8229600" cy="1066800"/>
          </a:xfrm>
          <a:prstGeom prst="rect">
            <a:avLst/>
          </a:prstGeom>
          <a:solidFill>
            <a:srgbClr val="F4F6F8"/>
          </a:solidFill>
          <a:ln w="6350">
            <a:solidFill>
              <a:srgbClr val="E0E5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38400"/>
            <a:ext cx="868680" cy="1066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38400"/>
            <a:ext cx="86868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508760" y="2529840"/>
            <a:ext cx="7086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etapa, concéntrese en la calidad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508760" y="2849880"/>
            <a:ext cx="7086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calidad no se inspecciona al final del proyecto: se construye en cada actividad del proceso. Cada producto del trabajo —documento, modelo, código o prueba— debe cumplir criterios de calidad antes de avanzar a la siguiente etapa.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596640"/>
            <a:ext cx="8229600" cy="1066800"/>
          </a:xfrm>
          <a:prstGeom prst="rect">
            <a:avLst/>
          </a:prstGeom>
          <a:solidFill>
            <a:srgbClr val="F4F6F8"/>
          </a:solidFill>
          <a:ln w="6350">
            <a:solidFill>
              <a:srgbClr val="E0E5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596640"/>
            <a:ext cx="868680" cy="1066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96640"/>
            <a:ext cx="86868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08760" y="3688080"/>
            <a:ext cx="7086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Esté listo para adaptarse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508760" y="4008120"/>
            <a:ext cx="7086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modelo de proceso es universal. El equipo debe ajustar su enfoque según las necesidades del problema, del cliente y del propio equipo. La rigidez metodológica conduce al fracaso; la adaptación inteligente conduce al éxito.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Diseño de Software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9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DETALLE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Principios del proceso · 4 a 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" cy="36576"/>
          </a:xfrm>
          <a:prstGeom prst="rect">
            <a:avLst/>
          </a:prstGeom>
          <a:solidFill>
            <a:srgbClr val="C8932F"/>
          </a:solidFill>
          <a:ln w="12700">
            <a:solidFill>
              <a:srgbClr val="C893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8229600" cy="1066800"/>
          </a:xfrm>
          <a:prstGeom prst="rect">
            <a:avLst/>
          </a:prstGeom>
          <a:solidFill>
            <a:srgbClr val="F4F6F8"/>
          </a:solidFill>
          <a:ln w="6350">
            <a:solidFill>
              <a:srgbClr val="E0E5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868680" cy="1066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86868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508760" y="1371600"/>
            <a:ext cx="7086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 un equipo eficaz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508760" y="1691640"/>
            <a:ext cx="7086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personas son el factor más importante del éxito. Un equipo eficaz se caracteriza por confianza mutua, respeto, comunicación abierta y capacidad de auto-organizarse. Formar al equipo es tan crítico como cualquier decisión técnica.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438400"/>
            <a:ext cx="8229600" cy="1066800"/>
          </a:xfrm>
          <a:prstGeom prst="rect">
            <a:avLst/>
          </a:prstGeom>
          <a:solidFill>
            <a:srgbClr val="F4F6F8"/>
          </a:solidFill>
          <a:ln w="6350">
            <a:solidFill>
              <a:srgbClr val="E0E5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38400"/>
            <a:ext cx="868680" cy="1066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38400"/>
            <a:ext cx="86868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508760" y="2529840"/>
            <a:ext cx="7086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y coordinación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508760" y="2849880"/>
            <a:ext cx="7086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proyectos fallan no por problemas técnicos, sino porque la información no fluye correctamente. Defina cómo se comunica el equipo, cómo coordina con el cliente y cómo documenta decisiones para mantener a todos alineados.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596640"/>
            <a:ext cx="8229600" cy="1066800"/>
          </a:xfrm>
          <a:prstGeom prst="rect">
            <a:avLst/>
          </a:prstGeom>
          <a:solidFill>
            <a:srgbClr val="F4F6F8"/>
          </a:solidFill>
          <a:ln w="6350">
            <a:solidFill>
              <a:srgbClr val="E0E5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596640"/>
            <a:ext cx="868680" cy="1066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96640"/>
            <a:ext cx="86868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08760" y="3688080"/>
            <a:ext cx="7086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Administre el cambio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508760" y="4008120"/>
            <a:ext cx="7086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cambio es inevitable en el software: cambian requerimientos, entornos y personas. Establezca un mecanismo formal o informal para solicitar, evaluar, aprobar e implementar cambios sin desestabilizar el proyecto.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Diseño de Software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9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DETALLE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Principios del proceso · 7 y 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" cy="36576"/>
          </a:xfrm>
          <a:prstGeom prst="rect">
            <a:avLst/>
          </a:prstGeom>
          <a:solidFill>
            <a:srgbClr val="C8932F"/>
          </a:solidFill>
          <a:ln w="12700">
            <a:solidFill>
              <a:srgbClr val="C893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8229600" cy="1623060"/>
          </a:xfrm>
          <a:prstGeom prst="rect">
            <a:avLst/>
          </a:prstGeom>
          <a:solidFill>
            <a:srgbClr val="F4F6F8"/>
          </a:solidFill>
          <a:ln w="6350">
            <a:solidFill>
              <a:srgbClr val="E0E5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868680" cy="16230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868680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508760" y="1371600"/>
            <a:ext cx="7086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Evalúe el riesgo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508760" y="1691640"/>
            <a:ext cx="708660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todo el proyecto pueden ocurrir eventos que amenacen el éxito: pérdida de personal, cambios tecnológicos, retrasos del cliente, dependencias externas que fallan. Identifique los riesgos temprano, evalúe su impacto y prepare planes de contingencia para los más críticos antes de que se materialicen.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040380"/>
            <a:ext cx="8229600" cy="1623060"/>
          </a:xfrm>
          <a:prstGeom prst="rect">
            <a:avLst/>
          </a:prstGeom>
          <a:solidFill>
            <a:srgbClr val="F4F6F8"/>
          </a:solidFill>
          <a:ln w="6350">
            <a:solidFill>
              <a:srgbClr val="E0E5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040380"/>
            <a:ext cx="868680" cy="16230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40380"/>
            <a:ext cx="868680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1508760" y="3131820"/>
            <a:ext cx="7086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 productos del trabajo que agreguen valor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508760" y="3451860"/>
            <a:ext cx="708660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produzca documentos, modelos, prototipos o artefactos que alguien más necesite usar después. Si un producto del trabajo no aporta valor a otra actividad del proceso o al cliente, es desperdicio y no debe existir. La cantidad de documentación no equivale a calidad.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Diseño de Software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9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VISTA GENERAL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Principios que guían la práctica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" cy="36576"/>
          </a:xfrm>
          <a:prstGeom prst="rect">
            <a:avLst/>
          </a:prstGeom>
          <a:solidFill>
            <a:srgbClr val="C8932F"/>
          </a:solidFill>
          <a:ln w="12700">
            <a:solidFill>
              <a:srgbClr val="C893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Hooker propone siete principios universales que orientan la práctica diaria del ingeniero de software: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011680" cy="1371600"/>
          </a:xfrm>
          <a:prstGeom prst="rect">
            <a:avLst/>
          </a:prstGeom>
          <a:solidFill>
            <a:srgbClr val="F4F6F8"/>
          </a:solidFill>
          <a:ln w="6350">
            <a:solidFill>
              <a:srgbClr val="E0E5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874520"/>
            <a:ext cx="457200" cy="457200"/>
          </a:xfrm>
          <a:prstGeom prst="ellipse">
            <a:avLst/>
          </a:prstGeom>
          <a:solidFill>
            <a:srgbClr val="4A90A4"/>
          </a:solidFill>
          <a:ln w="12700">
            <a:solidFill>
              <a:srgbClr val="4A90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razón de que todo exista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87752" y="1691640"/>
            <a:ext cx="2011680" cy="1371600"/>
          </a:xfrm>
          <a:prstGeom prst="rect">
            <a:avLst/>
          </a:prstGeom>
          <a:solidFill>
            <a:srgbClr val="F4F6F8"/>
          </a:solidFill>
          <a:ln w="6350">
            <a:solidFill>
              <a:srgbClr val="E0E5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24912" y="1874520"/>
            <a:ext cx="457200" cy="457200"/>
          </a:xfrm>
          <a:prstGeom prst="ellipse">
            <a:avLst/>
          </a:prstGeom>
          <a:solidFill>
            <a:srgbClr val="4A90A4"/>
          </a:solidFill>
          <a:ln w="12700">
            <a:solidFill>
              <a:srgbClr val="4A90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491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24912" y="2423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KISS — Mantenlo sencillo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18304" y="1691640"/>
            <a:ext cx="2011680" cy="1371600"/>
          </a:xfrm>
          <a:prstGeom prst="rect">
            <a:avLst/>
          </a:prstGeom>
          <a:solidFill>
            <a:srgbClr val="F4F6F8"/>
          </a:solidFill>
          <a:ln w="6350">
            <a:solidFill>
              <a:srgbClr val="E0E5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55464" y="1874520"/>
            <a:ext cx="457200" cy="457200"/>
          </a:xfrm>
          <a:prstGeom prst="ellipse">
            <a:avLst/>
          </a:prstGeom>
          <a:solidFill>
            <a:srgbClr val="4A90A4"/>
          </a:solidFill>
          <a:ln w="12700">
            <a:solidFill>
              <a:srgbClr val="4A90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55464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55464" y="2423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Mantenga la visión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48856" y="1691640"/>
            <a:ext cx="2011680" cy="1371600"/>
          </a:xfrm>
          <a:prstGeom prst="rect">
            <a:avLst/>
          </a:prstGeom>
          <a:solidFill>
            <a:srgbClr val="F4F6F8"/>
          </a:solidFill>
          <a:ln w="6350">
            <a:solidFill>
              <a:srgbClr val="E0E5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86016" y="1874520"/>
            <a:ext cx="457200" cy="457200"/>
          </a:xfrm>
          <a:prstGeom prst="ellipse">
            <a:avLst/>
          </a:prstGeom>
          <a:solidFill>
            <a:srgbClr val="4A90A4"/>
          </a:solidFill>
          <a:ln w="12700">
            <a:solidFill>
              <a:srgbClr val="4A90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86016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86016" y="2423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consumirán lo que produzca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3200400"/>
            <a:ext cx="2011680" cy="1371600"/>
          </a:xfrm>
          <a:prstGeom prst="rect">
            <a:avLst/>
          </a:prstGeom>
          <a:solidFill>
            <a:srgbClr val="F4F6F8"/>
          </a:solidFill>
          <a:ln w="6350">
            <a:solidFill>
              <a:srgbClr val="E0E5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3383280"/>
            <a:ext cx="457200" cy="457200"/>
          </a:xfrm>
          <a:prstGeom prst="ellipse">
            <a:avLst/>
          </a:prstGeom>
          <a:solidFill>
            <a:srgbClr val="4A90A4"/>
          </a:solidFill>
          <a:ln w="12700">
            <a:solidFill>
              <a:srgbClr val="4A90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4360" y="3931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Esté abierto al futuro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587752" y="3200400"/>
            <a:ext cx="2011680" cy="1371600"/>
          </a:xfrm>
          <a:prstGeom prst="rect">
            <a:avLst/>
          </a:prstGeom>
          <a:solidFill>
            <a:srgbClr val="F4F6F8"/>
          </a:solidFill>
          <a:ln w="6350">
            <a:solidFill>
              <a:srgbClr val="E0E5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24912" y="3383280"/>
            <a:ext cx="457200" cy="457200"/>
          </a:xfrm>
          <a:prstGeom prst="ellipse">
            <a:avLst/>
          </a:prstGeom>
          <a:solidFill>
            <a:srgbClr val="4A90A4"/>
          </a:solidFill>
          <a:ln w="12700">
            <a:solidFill>
              <a:srgbClr val="4A90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24912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724912" y="3931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Planee la reutilización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718304" y="3200400"/>
            <a:ext cx="2011680" cy="1371600"/>
          </a:xfrm>
          <a:prstGeom prst="rect">
            <a:avLst/>
          </a:prstGeom>
          <a:solidFill>
            <a:srgbClr val="F4F6F8"/>
          </a:solidFill>
          <a:ln w="6350">
            <a:solidFill>
              <a:srgbClr val="E0E5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55464" y="3383280"/>
            <a:ext cx="457200" cy="457200"/>
          </a:xfrm>
          <a:prstGeom prst="ellipse">
            <a:avLst/>
          </a:prstGeom>
          <a:solidFill>
            <a:srgbClr val="4A90A4"/>
          </a:solidFill>
          <a:ln w="12700">
            <a:solidFill>
              <a:srgbClr val="4A90A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55464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855464" y="3931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¡Piense!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46177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David Hooker — Seven Principles of Software Development.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Diseño de Software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9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DETALLE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Principios de la práctica · 1 a 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" cy="36576"/>
          </a:xfrm>
          <a:prstGeom prst="rect">
            <a:avLst/>
          </a:prstGeom>
          <a:solidFill>
            <a:srgbClr val="C8932F"/>
          </a:solidFill>
          <a:ln w="12700">
            <a:solidFill>
              <a:srgbClr val="C893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8229600" cy="1066800"/>
          </a:xfrm>
          <a:prstGeom prst="rect">
            <a:avLst/>
          </a:prstGeom>
          <a:solidFill>
            <a:srgbClr val="F4F6F8"/>
          </a:solidFill>
          <a:ln w="6350">
            <a:solidFill>
              <a:srgbClr val="E0E5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868680" cy="1066800"/>
          </a:xfrm>
          <a:prstGeom prst="rect">
            <a:avLst/>
          </a:prstGeom>
          <a:solidFill>
            <a:srgbClr val="4A90A4"/>
          </a:solidFill>
          <a:ln w="12700">
            <a:solidFill>
              <a:srgbClr val="4A90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86868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508760" y="1371600"/>
            <a:ext cx="7086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razón de que todo exista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508760" y="1691640"/>
            <a:ext cx="7086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elemento del sistema —cada función, cada línea de código, cada documento— existe por una sola razón: aportar valor al usuario. Antes de añadir algo al producto pregunte: ¿esto agrega valor real? Si la respuesta es no, no debería existir.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438400"/>
            <a:ext cx="8229600" cy="1066800"/>
          </a:xfrm>
          <a:prstGeom prst="rect">
            <a:avLst/>
          </a:prstGeom>
          <a:solidFill>
            <a:srgbClr val="F4F6F8"/>
          </a:solidFill>
          <a:ln w="6350">
            <a:solidFill>
              <a:srgbClr val="E0E5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38400"/>
            <a:ext cx="868680" cy="1066800"/>
          </a:xfrm>
          <a:prstGeom prst="rect">
            <a:avLst/>
          </a:prstGeom>
          <a:solidFill>
            <a:srgbClr val="4A90A4"/>
          </a:solidFill>
          <a:ln w="12700">
            <a:solidFill>
              <a:srgbClr val="4A90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38400"/>
            <a:ext cx="86868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508760" y="2529840"/>
            <a:ext cx="7086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KISS — Mantenlo sencillo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508760" y="2849880"/>
            <a:ext cx="7086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debe ser tan simple como el problema lo permita, pero no más. Simplicidad no significa tomar atajos ni omitir funcionalidad: significa eliminar la complejidad accidental. Los sistemas simples son más fáciles de entender, mantener y depurar.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596640"/>
            <a:ext cx="8229600" cy="1066800"/>
          </a:xfrm>
          <a:prstGeom prst="rect">
            <a:avLst/>
          </a:prstGeom>
          <a:solidFill>
            <a:srgbClr val="F4F6F8"/>
          </a:solidFill>
          <a:ln w="6350">
            <a:solidFill>
              <a:srgbClr val="E0E5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596640"/>
            <a:ext cx="868680" cy="1066800"/>
          </a:xfrm>
          <a:prstGeom prst="rect">
            <a:avLst/>
          </a:prstGeom>
          <a:solidFill>
            <a:srgbClr val="4A90A4"/>
          </a:solidFill>
          <a:ln w="12700">
            <a:solidFill>
              <a:srgbClr val="4A90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96640"/>
            <a:ext cx="86868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08760" y="3688080"/>
            <a:ext cx="7086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Mantenga la visión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508760" y="4008120"/>
            <a:ext cx="7086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visión clara y compartida del producto es esencial para el éxito. Sin ella, los miembros del equipo toman decisiones inconsistentes y el sistema termina siendo una colección de partes incoherentes.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Diseño de Software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9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DETALLE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Principios de la práctica · 4 y 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" cy="36576"/>
          </a:xfrm>
          <a:prstGeom prst="rect">
            <a:avLst/>
          </a:prstGeom>
          <a:solidFill>
            <a:srgbClr val="C8932F"/>
          </a:solidFill>
          <a:ln w="12700">
            <a:solidFill>
              <a:srgbClr val="C893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8229600" cy="1623060"/>
          </a:xfrm>
          <a:prstGeom prst="rect">
            <a:avLst/>
          </a:prstGeom>
          <a:solidFill>
            <a:srgbClr val="F4F6F8"/>
          </a:solidFill>
          <a:ln w="6350">
            <a:solidFill>
              <a:srgbClr val="E0E5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868680" cy="1623060"/>
          </a:xfrm>
          <a:prstGeom prst="rect">
            <a:avLst/>
          </a:prstGeom>
          <a:solidFill>
            <a:srgbClr val="4A90A4"/>
          </a:solidFill>
          <a:ln w="12700">
            <a:solidFill>
              <a:srgbClr val="4A90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868680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508760" y="1371600"/>
            <a:ext cx="7086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produzca, otros lo consumirán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508760" y="1691640"/>
            <a:ext cx="708660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código, sus modelos, sus diagramas y sus documentos serán leídos, mantenidos y extendidos por otras personas que probablemente usted no conoce. Escriba pensando en ellos: con nombres claros, estilo consistente, comentarios útiles y documentación completa. El código se lee mucho más veces de las que se escribe.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040380"/>
            <a:ext cx="8229600" cy="1623060"/>
          </a:xfrm>
          <a:prstGeom prst="rect">
            <a:avLst/>
          </a:prstGeom>
          <a:solidFill>
            <a:srgbClr val="F4F6F8"/>
          </a:solidFill>
          <a:ln w="6350">
            <a:solidFill>
              <a:srgbClr val="E0E5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040380"/>
            <a:ext cx="868680" cy="1623060"/>
          </a:xfrm>
          <a:prstGeom prst="rect">
            <a:avLst/>
          </a:prstGeom>
          <a:solidFill>
            <a:srgbClr val="4A90A4"/>
          </a:solidFill>
          <a:ln w="12700">
            <a:solidFill>
              <a:srgbClr val="4A90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40380"/>
            <a:ext cx="868680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1508760" y="3131820"/>
            <a:ext cx="7086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Esté abierto al futuro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508760" y="3451860"/>
            <a:ext cx="708660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con larga vida útil tiene mucho más valor que uno desechable. Los requerimientos cambiarán, las tecnologías evolucionarán y aparecerán necesidades imprevistas. Diseñe con flexibilidad: evite supuestos rígidos, separe responsabilidades y permita extensiones futuras sin reescribir todo.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Diseño de Software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9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DETALLE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Principios de la práctica · 6 y 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" cy="36576"/>
          </a:xfrm>
          <a:prstGeom prst="rect">
            <a:avLst/>
          </a:prstGeom>
          <a:solidFill>
            <a:srgbClr val="C8932F"/>
          </a:solidFill>
          <a:ln w="12700">
            <a:solidFill>
              <a:srgbClr val="C893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8229600" cy="1623060"/>
          </a:xfrm>
          <a:prstGeom prst="rect">
            <a:avLst/>
          </a:prstGeom>
          <a:solidFill>
            <a:srgbClr val="F4F6F8"/>
          </a:solidFill>
          <a:ln w="6350">
            <a:solidFill>
              <a:srgbClr val="E0E5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868680" cy="1623060"/>
          </a:xfrm>
          <a:prstGeom prst="rect">
            <a:avLst/>
          </a:prstGeom>
          <a:solidFill>
            <a:srgbClr val="4A90A4"/>
          </a:solidFill>
          <a:ln w="12700">
            <a:solidFill>
              <a:srgbClr val="4A90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868680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508760" y="1371600"/>
            <a:ext cx="7086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Planee con anticipación la reutilización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508760" y="1691640"/>
            <a:ext cx="708660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en el diseño componentes que puedan servir más allá del proyecto actual. La reutilización reduce costos, mejora la calidad (porque el código reutilizado ya está probado en otros contextos) y acelera entregas futuras. Requiere esfuerzo previo, pero el retorno es enorme.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040380"/>
            <a:ext cx="8229600" cy="1623060"/>
          </a:xfrm>
          <a:prstGeom prst="rect">
            <a:avLst/>
          </a:prstGeom>
          <a:solidFill>
            <a:srgbClr val="F4F6F8"/>
          </a:solidFill>
          <a:ln w="6350">
            <a:solidFill>
              <a:srgbClr val="E0E5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040380"/>
            <a:ext cx="868680" cy="1623060"/>
          </a:xfrm>
          <a:prstGeom prst="rect">
            <a:avLst/>
          </a:prstGeom>
          <a:solidFill>
            <a:srgbClr val="4A90A4"/>
          </a:solidFill>
          <a:ln w="12700">
            <a:solidFill>
              <a:srgbClr val="4A90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40380"/>
            <a:ext cx="868680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1508760" y="3131820"/>
            <a:ext cx="7086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¡Piense!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508760" y="3451860"/>
            <a:ext cx="708660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idea clara antes de actuar casi siempre produce mejores resultados. Detenerse a pensar —antes de codificar, modelar o decidir— ahorra tiempo, evita errores y mejora la calidad del producto. Pensar es la herramienta más subutilizada en ingeniería de software, y también la más poderosa.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Diseño de Software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C8932F"/>
          </a:solidFill>
          <a:ln w="12700">
            <a:solidFill>
              <a:srgbClr val="C89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8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DEBEMOS LLEVARNOS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ideas para recordar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560320" cy="2423160"/>
          </a:xfrm>
          <a:prstGeom prst="rect">
            <a:avLst/>
          </a:prstGeom>
          <a:solidFill>
            <a:srgbClr val="2A4A75"/>
          </a:solidFill>
          <a:ln w="12700">
            <a:solidFill>
              <a:srgbClr val="2A4A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2560320" cy="54864"/>
          </a:xfrm>
          <a:prstGeom prst="rect">
            <a:avLst/>
          </a:prstGeom>
          <a:solidFill>
            <a:srgbClr val="C8932F"/>
          </a:solidFill>
          <a:ln w="12700">
            <a:solidFill>
              <a:srgbClr val="C893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proceso da dirección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8 principios de Pressman organizan cómo trabaja el equipo: con agilidad, calidad y atención al riesgo.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874520"/>
            <a:ext cx="2560320" cy="2423160"/>
          </a:xfrm>
          <a:prstGeom prst="rect">
            <a:avLst/>
          </a:prstGeom>
          <a:solidFill>
            <a:srgbClr val="2A4A75"/>
          </a:solidFill>
          <a:ln w="12700">
            <a:solidFill>
              <a:srgbClr val="2A4A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874520"/>
            <a:ext cx="2560320" cy="54864"/>
          </a:xfrm>
          <a:prstGeom prst="rect">
            <a:avLst/>
          </a:prstGeom>
          <a:solidFill>
            <a:srgbClr val="C8932F"/>
          </a:solidFill>
          <a:ln w="12700">
            <a:solidFill>
              <a:srgbClr val="C893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74720" y="2514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práctica da disciplina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32004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7 principios de Hooker recuerdan que el software se construye para personas: debe ser simple, claro y útil.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874520"/>
            <a:ext cx="2560320" cy="2423160"/>
          </a:xfrm>
          <a:prstGeom prst="rect">
            <a:avLst/>
          </a:prstGeom>
          <a:solidFill>
            <a:srgbClr val="2A4A75"/>
          </a:solidFill>
          <a:ln w="12700">
            <a:solidFill>
              <a:srgbClr val="2A4A7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874520"/>
            <a:ext cx="2560320" cy="54864"/>
          </a:xfrm>
          <a:prstGeom prst="rect">
            <a:avLst/>
          </a:prstGeom>
          <a:solidFill>
            <a:srgbClr val="C8932F"/>
          </a:solidFill>
          <a:ln w="12700">
            <a:solidFill>
              <a:srgbClr val="C893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17920" y="2514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Ambos se necesitan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32004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y práctica son inseparables. Un equipo maduro aplica los dos niveles en cada actividad del proyecto.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FB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"El software es para las personas, no para las máquinas."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Principios que guían el proceso y la práctica</dc:title>
  <dc:subject>PptxGenJS Presentation</dc:subject>
  <dc:creator>Lic. Jefernee Ruiz García</dc:creator>
  <cp:lastModifiedBy>Lic. Jefernee Ruiz García</cp:lastModifiedBy>
  <cp:revision>1</cp:revision>
  <dcterms:created xsi:type="dcterms:W3CDTF">2026-05-19T13:50:02Z</dcterms:created>
  <dcterms:modified xsi:type="dcterms:W3CDTF">2026-05-19T13:50:02Z</dcterms:modified>
</cp:coreProperties>
</file>