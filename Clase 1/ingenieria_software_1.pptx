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2926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92608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926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</a:rPr>
              <a:t>DECIMO ANO  ·  DISENO WEB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Ingenieria del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20040" y="265176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E0F2FE"/>
                </a:solidFill>
              </a:rPr>
              <a:t>Importancia y Modelos de Procesos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E0F2FE"/>
                </a:solidFill>
              </a:rPr>
              <a:t>en el Desarrollo Web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0" y="274320"/>
            <a:ext cx="2560320" cy="4572000"/>
          </a:xfrm>
          <a:prstGeom prst="rect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1C7293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457200"/>
            <a:ext cx="2377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buildWeb() {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plan();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design();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develop();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test();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deploy();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663440"/>
            <a:ext cx="85039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F2FE"/>
                </a:solidFill>
              </a:rPr>
              <a:t>Prof. Jefernee Ruiz  ·  Unidad 1: Conceptos Fundamentales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Leccion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15568"/>
            <a:ext cx="50292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13385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1B2C"/>
                </a:solidFill>
              </a:rPr>
              <a:t>¿Que es la Ingenieria del Software?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38988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Definicion IEEE, 3 pilares y por que existe como disciplina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29968"/>
            <a:ext cx="50292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04825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1B2C"/>
                </a:solidFill>
              </a:rPr>
              <a:t>¿Por que importa en la Web?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30428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Consecuencias reales de construir sin metodologia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944368"/>
            <a:ext cx="50292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944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96265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1B2C"/>
                </a:solidFill>
              </a:rPr>
              <a:t>Modelos de Proceso en profundidad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21868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Cascada, Incremental y Agil — fases, ejemplos, ventajas y limitaciones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858768"/>
            <a:ext cx="50292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87705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1B2C"/>
                </a:solidFill>
              </a:rPr>
              <a:t>Aplicacion en proyecto web real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13308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Como elegir el modelo correcto segun el tipo de proyecto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¿Que es la Ingenieria del Software?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EA5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33272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0F2FE"/>
                </a:solidFill>
              </a:rPr>
              <a:t>"La aplicacion de un enfoque sistematico, disciplinado y cuantificable al desarrollo, operacion y mantenimiento del software."  — IEEE, 1990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2606040" cy="2743200"/>
          </a:xfrm>
          <a:prstGeom prst="rect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0EA5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057400"/>
            <a:ext cx="260604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671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</a:rPr>
              <a:t>📐  Sistematico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2578608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0F2FE"/>
                </a:solidFill>
              </a:rPr>
              <a:t>Seguir pasos ordenados y planeados.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0F2FE"/>
                </a:solidFill>
              </a:rPr>
              <a:t>No improvisar. Tener un plan desde el inicio.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057400"/>
            <a:ext cx="2606040" cy="2743200"/>
          </a:xfrm>
          <a:prstGeom prst="rect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34D39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057400"/>
            <a:ext cx="260604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1671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</a:rPr>
              <a:t>📏  Disciplinado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0128" y="2578608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0F2FE"/>
                </a:solidFill>
              </a:rPr>
              <a:t>Cumplir reglas, estandares y buenas practicas.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0F2FE"/>
                </a:solidFill>
              </a:rPr>
              <a:t>Todo el equipo sigue las mismas normas.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057400"/>
            <a:ext cx="2606040" cy="2743200"/>
          </a:xfrm>
          <a:prstGeom prst="rect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FCD34D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2057400"/>
            <a:ext cx="260604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1671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D34D"/>
                </a:solidFill>
              </a:rPr>
              <a:t>📊  Cuantificable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44768" y="2578608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0F2FE"/>
                </a:solidFill>
              </a:rPr>
              <a:t>Medir tiempos, costos y calidad con datos.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0F2FE"/>
                </a:solidFill>
              </a:rPr>
              <a:t>Ejemplo: cuantos bugs hay, cuanto tarda cada fase.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¿Que pasa SIN Ingenieria del Software?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3931920" cy="373075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24128"/>
            <a:ext cx="393192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241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SIN Ingenieria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81912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54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</a:rPr>
              <a:t>Codigo desorganizado, dificil de entender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093976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665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</a:rPr>
              <a:t>Nadie sabe en que trabaja el otro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57860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</a:rPr>
              <a:t>El sitio falla cuando mas lo necesitan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118104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0906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</a:rPr>
              <a:t>Los cambios rompen otras partes del sistema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630168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60273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</a:rPr>
              <a:t>El proyecto se atrasa semanas o meses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142232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1148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</a:rPr>
              <a:t>El cliente rechaza el producto final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37760" y="1024128"/>
            <a:ext cx="3931920" cy="373075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1024128"/>
            <a:ext cx="393192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0241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CON Ingenieria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20640" y="1581912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1554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</a:rPr>
              <a:t>Codigo claro, documentado y reutilizable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120640" y="2093976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20665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</a:rPr>
              <a:t>Cada persona conoce su rol y sus tareas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120640" y="2606040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257860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</a:rPr>
              <a:t>El sitio funciona de forma estable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120640" y="3118104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0" y="30906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</a:rPr>
              <a:t>Los cambios se gestionan sin romper nada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120640" y="3630168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360273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</a:rPr>
              <a:t>El proyecto se entrega en el tiempo pactado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120640" y="4142232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41148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74151"/>
                </a:solidFill>
              </a:rPr>
              <a:t>El cliente recibe exactamente lo que pidio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que importa en el Desarrollo Web?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173736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1C7293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155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A5E9"/>
                </a:solidFill>
              </a:rPr>
              <a:t>🌐  Sitios mas confiables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F2FE"/>
                </a:solidFill>
              </a:rPr>
              <a:t>Un proceso bien definido reduce errores en produccion que afectan a miles de usuarios al mismo tiempo.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743200" cy="173736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1C7293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05840"/>
            <a:ext cx="27432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1155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A5E9"/>
                </a:solidFill>
              </a:rPr>
              <a:t>⚡  Desarrollo mas rapido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481328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F2FE"/>
                </a:solidFill>
              </a:rPr>
              <a:t>Los modelos de proceso ayudan a dividir el trabajo para que varios desarrolladores trabajen en paralelo.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005840"/>
            <a:ext cx="2743200" cy="173736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1C7293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005840"/>
            <a:ext cx="27432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1155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A5E9"/>
                </a:solidFill>
              </a:rPr>
              <a:t>🔒  Mayor seguridad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481328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F2FE"/>
                </a:solidFill>
              </a:rPr>
              <a:t>La planeacion previa incluye etapas de prueba de seguridad antes de publicar el sitio al publico.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2743200" cy="173736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1C7293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71800"/>
            <a:ext cx="27432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0815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A5E9"/>
                </a:solidFill>
              </a:rPr>
              <a:t>💰  Ahorro de costos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447288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F2FE"/>
                </a:solidFill>
              </a:rPr>
              <a:t>Detectar errores en planificacion es 100 veces mas barato que corregirlos cuando el sitio ya esta publicado.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971800"/>
            <a:ext cx="2743200" cy="173736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1C7293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971800"/>
            <a:ext cx="27432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0815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A5E9"/>
                </a:solidFill>
              </a:rPr>
              <a:t>🤝  Trabajo en equipo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447288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F2FE"/>
                </a:solidFill>
              </a:rPr>
              <a:t>Los roles y procesos claros permiten que varios desarrolladores colaboren sin pisarse el trabajo.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971800"/>
            <a:ext cx="2743200" cy="173736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1C7293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971800"/>
            <a:ext cx="27432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30815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A5E9"/>
                </a:solidFill>
              </a:rPr>
              <a:t>📈  Escalabilidad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3447288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F2FE"/>
                </a:solidFill>
              </a:rPr>
              <a:t>Un sitio bien construido puede crecer, agregar secciones y nuevas funciones sin rehacer todo desde cero.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de Proceso: ¿Que son y cuales existen?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749808"/>
          </a:xfrm>
          <a:prstGeom prst="rect">
            <a:avLst/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3327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21B2C"/>
                </a:solidFill>
              </a:rPr>
              <a:t>Un modelo de proceso define el ORDEN y la FORMA en que se realizan las actividades para crear software. Actua como una hoja de ruta: le dice al equipo que hacer primero, quien lo hace y como saber que esa etapa esta terminada.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883664"/>
            <a:ext cx="1261872" cy="5303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883664"/>
            <a:ext cx="1261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Requisitos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81912" y="2093976"/>
            <a:ext cx="173736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1883664"/>
            <a:ext cx="1261872" cy="5303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55648" y="1883664"/>
            <a:ext cx="1261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Diseno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17520" y="2093976"/>
            <a:ext cx="173736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91256" y="1883664"/>
            <a:ext cx="1261872" cy="5303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91256" y="1883664"/>
            <a:ext cx="1261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Desarrollo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53128" y="2093976"/>
            <a:ext cx="173736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6864" y="1883664"/>
            <a:ext cx="1261872" cy="5303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26864" y="1883664"/>
            <a:ext cx="1261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Pruebas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88736" y="2093976"/>
            <a:ext cx="173736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62472" y="1883664"/>
            <a:ext cx="1261872" cy="530352"/>
          </a:xfrm>
          <a:prstGeom prst="rect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62472" y="1883664"/>
            <a:ext cx="1261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Despliegue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24344" y="2093976"/>
            <a:ext cx="173736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0" y="1883664"/>
            <a:ext cx="1261872" cy="530352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0" y="1883664"/>
            <a:ext cx="12618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Mantenimiento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49631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Estas 6 actividades son comunes a todos los modelos. Lo que cambia es COMO se organizan: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2834640"/>
            <a:ext cx="2743200" cy="1920240"/>
          </a:xfrm>
          <a:prstGeom prst="rect">
            <a:avLst/>
          </a:prstGeom>
          <a:solidFill>
            <a:srgbClr val="021B2C"/>
          </a:solidFill>
          <a:ln w="12700">
            <a:solidFill>
              <a:srgbClr val="0EA5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834640"/>
            <a:ext cx="274320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944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A5E9"/>
                </a:solidFill>
              </a:rPr>
              <a:t>🌊  Cascada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14600" y="2907792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0EA5E9">
              <a:alpha val="4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14600" y="29077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Lineal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" y="3337560"/>
            <a:ext cx="25237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F2FE"/>
                </a:solidFill>
              </a:rPr>
              <a:t>Las 6 fases se ejecutan UNA SOLA VEZ, en orden estricto. No se avanza hasta completar la fase anterior.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91840" y="2834640"/>
            <a:ext cx="2743200" cy="1920240"/>
          </a:xfrm>
          <a:prstGeom prst="rect">
            <a:avLst/>
          </a:prstGeom>
          <a:solidFill>
            <a:srgbClr val="021B2C"/>
          </a:solidFill>
          <a:ln w="12700">
            <a:solidFill>
              <a:srgbClr val="34D39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91840" y="2834640"/>
            <a:ext cx="2743200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2944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4D399"/>
                </a:solidFill>
              </a:rPr>
              <a:t>📦  Incremental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40680" y="2907792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34D399">
              <a:alpha val="4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40680" y="29077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Modular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401568" y="3337560"/>
            <a:ext cx="25237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F2FE"/>
                </a:solidFill>
              </a:rPr>
              <a:t>Las 6 fases se repiten por MODULOS. Cada modulo entrega una parte funcional al cliente.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2834640"/>
            <a:ext cx="2743200" cy="1920240"/>
          </a:xfrm>
          <a:prstGeom prst="rect">
            <a:avLst/>
          </a:prstGeom>
          <a:solidFill>
            <a:srgbClr val="021B2C"/>
          </a:solidFill>
          <a:ln w="12700">
            <a:solidFill>
              <a:srgbClr val="FCD34D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2834640"/>
            <a:ext cx="2743200" cy="914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2944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CD34D"/>
                </a:solidFill>
              </a:rPr>
              <a:t>🔄  Agil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366760" y="2907792"/>
            <a:ext cx="502920" cy="228600"/>
          </a:xfrm>
          <a:prstGeom prst="roundRect">
            <a:avLst>
              <a:gd name="adj" fmla="val 20000"/>
            </a:avLst>
          </a:prstGeom>
          <a:solidFill>
            <a:srgbClr val="FCD34D">
              <a:alpha val="40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66760" y="29077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Iterativo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327648" y="3337560"/>
            <a:ext cx="25237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F2FE"/>
                </a:solidFill>
              </a:rPr>
              <a:t>Las 6 fases se repiten en CICLOS CORTOS (sprints). El cliente valida al final de cada ciclo.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 Cascada — Las 5 Fases en Detalle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4937760" cy="438912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F2FE"/>
                </a:solidFill>
              </a:rPr>
              <a:t>Origen: Winston Royce, 1970  ·  Regla de oro: una fase termina al 100% antes de iniciar la siguiente.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0" y="987552"/>
            <a:ext cx="3383280" cy="438912"/>
          </a:xfrm>
          <a:prstGeom prst="rect">
            <a:avLst/>
          </a:prstGeom>
          <a:solidFill>
            <a:srgbClr val="FCD34D">
              <a:alpha val="30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59552" y="1005840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CD34D"/>
                </a:solidFill>
              </a:rPr>
              <a:t>⚠️  Si se omite o falla una fase, las siguientes heredan ese error.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536192"/>
            <a:ext cx="502920" cy="6035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536192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1536192"/>
            <a:ext cx="1417320" cy="603504"/>
          </a:xfrm>
          <a:prstGeom prst="rect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536192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REQUISITOS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31720" y="1536192"/>
            <a:ext cx="2286000" cy="603504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5727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EA5E9"/>
                </a:solidFill>
              </a:rPr>
              <a:t>QUE: ¿QUE debe hacer el sitio?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23160" y="18105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0F2FE"/>
                </a:solidFill>
              </a:rPr>
              <a:t>Se reune con el cliente para documentar TODAS las funciones, paginas y…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536192"/>
            <a:ext cx="4480560" cy="603504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6459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</a:rPr>
              <a:t>📤 Documento de requisitos firmado por el cliente.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240280"/>
            <a:ext cx="502920" cy="60350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240280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05840" y="2240280"/>
            <a:ext cx="1417320" cy="603504"/>
          </a:xfrm>
          <a:prstGeom prst="rect">
            <a:avLst/>
          </a:prstGeom>
          <a:solidFill>
            <a:srgbClr val="0284C7">
              <a:alpha val="80000"/>
            </a:srgbClr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2240280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DISENO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68880" y="2240280"/>
            <a:ext cx="2286000" cy="603504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22768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EA5E9"/>
                </a:solidFill>
              </a:rPr>
              <a:t>QUE: ¿COMO sera construido?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0320" y="2514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0F2FE"/>
                </a:solidFill>
              </a:rPr>
              <a:t>Se definen la arquitectura del sistema, la base de datos, el aspecto v…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2240280"/>
            <a:ext cx="4343400" cy="603504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35000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</a:rPr>
              <a:t>📤 Planos del sistema: diagramas, maquetas y estructura de carpetas.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" y="2944368"/>
            <a:ext cx="502920" cy="60350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2944368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43000" y="2944368"/>
            <a:ext cx="1417320" cy="603504"/>
          </a:xfrm>
          <a:prstGeom prst="rect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61288" y="2944368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DESARROLLO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06040" y="2944368"/>
            <a:ext cx="2286000" cy="603504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97480" y="298094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EA5E9"/>
                </a:solidFill>
              </a:rPr>
              <a:t>QUE: Escribir el codigo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97480" y="32186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0F2FE"/>
                </a:solidFill>
              </a:rPr>
              <a:t>Los programadores implementan todo lo disenado. HTML, CSS, JS, backend…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37760" y="2944368"/>
            <a:ext cx="4206240" cy="603504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305409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</a:rPr>
              <a:t>📤 Codigo fuente completo de todas las paginas y funciones.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3648456"/>
            <a:ext cx="502920" cy="60350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31520" y="3648456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280160" y="3648456"/>
            <a:ext cx="1417320" cy="603504"/>
          </a:xfrm>
          <a:prstGeom prst="rect">
            <a:avLst/>
          </a:prstGeom>
          <a:solidFill>
            <a:srgbClr val="1C7293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98448" y="3648456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PRUEBAS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0" y="3648456"/>
            <a:ext cx="2286000" cy="603504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0" y="36850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EA5E9"/>
                </a:solidFill>
              </a:rPr>
              <a:t>QUE: ¿Todo funciona?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834640" y="392277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0F2FE"/>
                </a:solidFill>
              </a:rPr>
              <a:t>Un equipo de QA prueba el sistema completo: funcionalidad, rendimiento…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74920" y="3648456"/>
            <a:ext cx="4069080" cy="603504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66360" y="375818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</a:rPr>
              <a:t>📤 Reporte de bugs corregidos. Sitio aprobado para publicar.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68680" y="4352544"/>
            <a:ext cx="502920" cy="603504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68680" y="4352544"/>
            <a:ext cx="502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417320" y="4352544"/>
            <a:ext cx="1417320" cy="603504"/>
          </a:xfrm>
          <a:prstGeom prst="rect">
            <a:avLst/>
          </a:prstGeom>
          <a:solidFill>
            <a:srgbClr val="0C4A6E">
              <a:alpha val="80000"/>
            </a:srgbClr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35608" y="4352544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DESPLIEGUE Y MANTENIMIENTO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880360" y="4352544"/>
            <a:ext cx="2286000" cy="603504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71800" y="43891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EA5E9"/>
                </a:solidFill>
              </a:rPr>
              <a:t>QUE: Lanzar y mantener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971800" y="46268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0F2FE"/>
                </a:solidFill>
              </a:rPr>
              <a:t>El sitio se sube al servidor de produccion. Luego se monitorea, actual…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212080" y="4352544"/>
            <a:ext cx="3931920" cy="603504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03520" y="44622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D34D"/>
                </a:solidFill>
              </a:rPr>
              <a:t>📤 Sitio en linea. Plan de mantenimiento activo.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Cascada — Ventajas, Limitaciones y Ejemplo Real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931920" cy="27889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393192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Ventajas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17904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49047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Facil de entender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13232" y="166420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Cualquier persona puede seguir el flujo de fases.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3852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Documentacion robusta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13232" y="211226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Cada fase produce documentos que guian la siguiente.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14016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38658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Progreso medible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3232" y="25603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Se puede saber exactamente en que fase esta el equipo.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62072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8346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Ideal para contratos fijos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3232" y="300837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Cuando precio y alcance no cambian, funciona perfecto.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10128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28269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Bueno para principiantes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13232" y="345643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Los roles y responsabilidades son muy claros.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34840" y="1005840"/>
            <a:ext cx="3931920" cy="27889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34840" y="1005840"/>
            <a:ext cx="393192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Limitaciones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17720" y="1517904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149047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Cero flexibilidad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64608" y="166420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Un cambio de requisitos obliga a reiniciar fases.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1965960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193852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Cliente ve el resultado tarde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64608" y="211226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No hay entregas parciales; todo al final.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2414016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238658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Errores tempranos son caros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64608" y="25603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Un error en fase 1 se arrastra a todas las demas.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286207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28346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Poco realista hoy en dia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64608" y="300837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Los proyectos modernos cambian constantemente.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17720" y="3310128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328269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No apto para proyectos largos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864608" y="345643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A mayor duracion, mayor riesgo de fracaso total.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886200"/>
            <a:ext cx="8229600" cy="960120"/>
          </a:xfrm>
          <a:prstGeom prst="rect">
            <a:avLst/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11480" y="3913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A82"/>
                </a:solidFill>
              </a:rPr>
              <a:t>🏫  Ejemplo ideal para Cascada: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11480" y="418795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El MEP encarga un sitio informativo de 4 paginas fijas (inicio, sobre nosotros, contacto, noticias), con presupuesto cerrado de ₡500.000 y sin cambios esperados. Cascada es perfecto: los requisitos son claros, el equipo sabe exactamente que construir.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Incremental — Concepto y Funcionamiento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42416"/>
            <a:ext cx="4114800" cy="100584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34D39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698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D399"/>
                </a:solidFill>
              </a:rPr>
              <a:t>Concepto clave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4416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F2FE"/>
                </a:solidFill>
              </a:rPr>
              <a:t>En lugar de entregar TODO al final, el software se divide en MODULOS funcionales. Cada modulo pasa por sus propias fases: requisitos → diseno → desarrollo → pruebas. Resultado: el cliente puede usar partes del sistema mientras las demas se construyen.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42416"/>
            <a:ext cx="4206240" cy="100584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FCD34D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0698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D34D"/>
                </a:solidFill>
              </a:rPr>
              <a:t>Origen: Barry Boehm y Harlan Mills, 1980s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34416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F2FE"/>
                </a:solidFill>
              </a:rPr>
              <a:t>Nacio porque Cascada fallaba en proyectos medianos donde el cliente queria ver avances antes de que todo estuviera listo. La clave: cada incremento ES funcional y util por si solo.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176272"/>
            <a:ext cx="2743200" cy="265176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EA5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76272"/>
            <a:ext cx="2743200" cy="384048"/>
          </a:xfrm>
          <a:prstGeom prst="rect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1762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A5E9"/>
                </a:solidFill>
              </a:rPr>
              <a:t>Incremento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23500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Semana 1-4  →  MVP (minimo viable)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93192" y="2615184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A5E9"/>
                </a:solidFill>
              </a:rPr>
              <a:t>Req → Diseño → Dev → Test → ✅ Entrega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" y="2889504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28620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0F2FE"/>
                </a:solidFill>
              </a:rPr>
              <a:t>Pagina de inicio con diseno del colegio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9768" y="3456432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3429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0F2FE"/>
                </a:solidFill>
              </a:rPr>
              <a:t>Menu de navegacion funcional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" y="4023360"/>
            <a:ext cx="146304" cy="14630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" y="3995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0F2FE"/>
                </a:solidFill>
              </a:rPr>
              <a:t>Version responsive para celular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2176272"/>
            <a:ext cx="2743200" cy="265176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22C55E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2176272"/>
            <a:ext cx="2743200" cy="384048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21762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C55E"/>
                </a:solidFill>
              </a:rPr>
              <a:t>Incremento 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37560" y="23500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Semana 5-8  →  Funciones sociales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19272" y="2615184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2C55E"/>
                </a:solidFill>
              </a:rPr>
              <a:t>Req → Diseño → Dev → Test → ✅ Entrega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55848" y="2889504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75304" y="28620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0F2FE"/>
                </a:solidFill>
              </a:rPr>
              <a:t>Seccion de noticias con editor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55848" y="3456432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75304" y="3429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0F2FE"/>
                </a:solidFill>
              </a:rPr>
              <a:t>Galeria de fotos de eventos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55848" y="402336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75304" y="3995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0F2FE"/>
                </a:solidFill>
              </a:rPr>
              <a:t>Formulario de contacto con email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72200" y="2176272"/>
            <a:ext cx="2743200" cy="265176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FCD34D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72200" y="2176272"/>
            <a:ext cx="2743200" cy="384048"/>
          </a:xfrm>
          <a:prstGeom prst="rect">
            <a:avLst/>
          </a:prstGeom>
          <a:solidFill>
            <a:srgbClr val="FCD34D">
              <a:alpha val="80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21762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D34D"/>
                </a:solidFill>
              </a:rPr>
              <a:t>Incremento 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63640" y="23500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Semana 9-12  →  Administracion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45352" y="2615184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CD34D"/>
                </a:solidFill>
              </a:rPr>
              <a:t>Req → Diseño → Dev → Test → ✅ Entrega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81928" y="2889504"/>
            <a:ext cx="146304" cy="146304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01384" y="28620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0F2FE"/>
                </a:solidFill>
              </a:rPr>
              <a:t>Panel de administracion con login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81928" y="3456432"/>
            <a:ext cx="146304" cy="146304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01384" y="3429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0F2FE"/>
                </a:solidFill>
              </a:rPr>
              <a:t>Subir y editar contenido sin codigo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81928" y="4023360"/>
            <a:ext cx="146304" cy="146304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01384" y="3995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0F2FE"/>
                </a:solidFill>
              </a:rPr>
              <a:t>Estadisticas de visitas del sitio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— Ventajas, Limitaciones y Ejemplo Real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931920" cy="27889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3931920" cy="3840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Ventajas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17904"/>
            <a:ext cx="164592" cy="16459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49047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El cliente usa el sistema desde antes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13232" y="166420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No espera al final para tener algo funcional.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164592" cy="16459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3852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Errores se detectan por modulo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13232" y="211226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Un fallo en el Incremento 2 no afecta el 1.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14016"/>
            <a:ext cx="164592" cy="16459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38658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Retroalimentacion temprana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3232" y="25603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El cliente puede pedir ajustes entre incrementos.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62072"/>
            <a:ext cx="164592" cy="16459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8346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Reduce el riesgo total del proyecto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3232" y="300837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Si falla un modulo no fracasa todo el trabajo.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10128"/>
            <a:ext cx="164592" cy="164592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28269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Mas facil de probar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13232" y="345643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Cada modulo pequeno es mas facil de revisar.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34840" y="1005840"/>
            <a:ext cx="3931920" cy="27889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34840" y="1005840"/>
            <a:ext cx="393192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Limitaciones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17720" y="1517904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149047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Planificacion inicial cuidadosa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64608" y="166420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Hay que dividir bien el sistema desde el inicio.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1965960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193852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Integracion puede ser compleja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64608" y="211226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Unir todos los modulos al final requiere trabajo.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2414016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238658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Documentacion puede quedar incompleta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64608" y="25603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Cada modulo se documenta por separado.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286207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28346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No ideal si los requisitos cambian mucho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64608" y="300837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El plan de modulos se puede desalinear.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17720" y="3310128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328269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Requiere disciplina del equipo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864608" y="345643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</a:rPr>
              <a:t>Cada modulo debe estar 100% terminado y probado.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886200"/>
            <a:ext cx="8229600" cy="960120"/>
          </a:xfrm>
          <a:prstGeom prst="rect">
            <a:avLst/>
          </a:prstGeom>
          <a:solidFill>
            <a:srgbClr val="E0F2FE"/>
          </a:solidFill>
          <a:ln w="12700">
            <a:solidFill>
              <a:srgbClr val="22C55E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11480" y="39136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7857"/>
                </a:solidFill>
              </a:rPr>
              <a:t>🛒  Ejemplo ideal para Incremental: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11480" y="418795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Una tienda en linea que empieza con catalogo y carrito (Incremento 1), luego agrega pasarela de pagos (Incremento 2) y finalmente cuenta de usuario con historial (Incremento 3). El negocio ya vende desde el Incremento 1.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Metodologias Agiles — Manifiesto y 4 Valores Fundamentales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42416"/>
            <a:ext cx="8503920" cy="621792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34D39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6984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0F2FE"/>
                </a:solidFill>
              </a:rPr>
              <a:t>En 2001, 17 expertos en software se reunieron en Utah (EE.UU.) y redactaron el Manifiesto Agil. Su objetivo: crear software de forma mas humana, colaborativa y adaptable al cambio, superando la rigidez de modelos como Cascada.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4D399"/>
                </a:solidFill>
              </a:rPr>
              <a:t>Los 4 Valores del Manifiesto Agil: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" y="2084832"/>
            <a:ext cx="2084832" cy="274320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EA5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" y="2084832"/>
            <a:ext cx="2084832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12848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EA5E9"/>
                </a:solidFill>
              </a:rPr>
              <a:t>MAS IMPORTANTE: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377440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Individuos e interacciones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98648"/>
            <a:ext cx="1938528" cy="27432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94436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</a:rPr>
              <a:t>sobre: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309067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procesos y herramientas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" y="3493008"/>
            <a:ext cx="2011680" cy="1261872"/>
          </a:xfrm>
          <a:prstGeom prst="rect">
            <a:avLst/>
          </a:prstGeom>
          <a:solidFill>
            <a:srgbClr val="021B2C">
              <a:alpha val="7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529584"/>
            <a:ext cx="19019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F2FE"/>
                </a:solidFill>
              </a:rPr>
              <a:t>Las personas y su comunicacion diaria son mas importantes que seguir un proceso rigido o usar herramientas sofisticadas.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05456" y="2084832"/>
            <a:ext cx="2084832" cy="274320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22C55E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05456" y="2084832"/>
            <a:ext cx="2084832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78608" y="2212848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C55E"/>
                </a:solidFill>
              </a:rPr>
              <a:t>MAS IMPORTANTE: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78608" y="2377440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Software funcionando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78608" y="2898648"/>
            <a:ext cx="1938528" cy="27432"/>
          </a:xfrm>
          <a:prstGeom prst="rect">
            <a:avLst/>
          </a:prstGeom>
          <a:solidFill>
            <a:srgbClr val="22C55E">
              <a:alpha val="5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78608" y="294436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</a:rPr>
              <a:t>sobre: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78608" y="309067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documentacion extensa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42032" y="3493008"/>
            <a:ext cx="2011680" cy="1261872"/>
          </a:xfrm>
          <a:prstGeom prst="rect">
            <a:avLst/>
          </a:prstGeom>
          <a:solidFill>
            <a:srgbClr val="021B2C">
              <a:alpha val="7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96896" y="3529584"/>
            <a:ext cx="19019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F2FE"/>
                </a:solidFill>
              </a:rPr>
              <a:t>Entregar un programa que funcione vale mas que producir cientos de paginas de documentacion que nadie lee.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18304" y="2084832"/>
            <a:ext cx="2084832" cy="274320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FCD34D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18304" y="2084832"/>
            <a:ext cx="2084832" cy="914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1456" y="2212848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CD34D"/>
                </a:solidFill>
              </a:rPr>
              <a:t>MAS IMPORTANTE: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91456" y="2377440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Colaboracion con el cliente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91456" y="2898648"/>
            <a:ext cx="1938528" cy="27432"/>
          </a:xfrm>
          <a:prstGeom prst="rect">
            <a:avLst/>
          </a:prstGeom>
          <a:solidFill>
            <a:srgbClr val="FCD34D">
              <a:alpha val="50000"/>
            </a:srgbClr>
          </a:solidFill>
          <a:ln w="12700">
            <a:solidFill>
              <a:srgbClr val="FCD34D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91456" y="294436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</a:rPr>
              <a:t>sobre: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91456" y="309067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negociacion de contratos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493008"/>
            <a:ext cx="2011680" cy="1261872"/>
          </a:xfrm>
          <a:prstGeom prst="rect">
            <a:avLst/>
          </a:prstGeom>
          <a:solidFill>
            <a:srgbClr val="021B2C">
              <a:alpha val="7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9744" y="3529584"/>
            <a:ext cx="19019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F2FE"/>
                </a:solidFill>
              </a:rPr>
              <a:t>Trabajar de la mano con el cliente durante todo el proyecto es mas valioso que acordar todo al inicio y no verlo mas.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31152" y="2084832"/>
            <a:ext cx="2084832" cy="274320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FB923C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931152" y="2084832"/>
            <a:ext cx="2084832" cy="914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04304" y="2212848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923C"/>
                </a:solidFill>
              </a:rPr>
              <a:t>MAS IMPORTANTE: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04304" y="2377440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Responder al cambio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04304" y="2898648"/>
            <a:ext cx="1938528" cy="27432"/>
          </a:xfrm>
          <a:prstGeom prst="rect">
            <a:avLst/>
          </a:prstGeom>
          <a:solidFill>
            <a:srgbClr val="FB923C">
              <a:alpha val="50000"/>
            </a:srgbClr>
          </a:solidFill>
          <a:ln w="12700">
            <a:solidFill>
              <a:srgbClr val="FB923C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04304" y="2944368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</a:rPr>
              <a:t>sobre: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004304" y="309067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seguir un plan rigido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967728" y="3493008"/>
            <a:ext cx="2011680" cy="1261872"/>
          </a:xfrm>
          <a:prstGeom prst="rect">
            <a:avLst/>
          </a:prstGeom>
          <a:solidFill>
            <a:srgbClr val="021B2C">
              <a:alpha val="7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22592" y="3529584"/>
            <a:ext cx="19019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0F2FE"/>
                </a:solidFill>
              </a:rPr>
              <a:t>Adaptarse a los cambios del cliente o del mercado tiene mas valor que seguir al pie de la letra el plan original.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Metodologias Agiles — El Sprint: El Motor de Agil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4297680" cy="566928"/>
          </a:xfrm>
          <a:prstGeom prst="rect">
            <a:avLst/>
          </a:prstGeom>
          <a:solidFill>
            <a:srgbClr val="E0F2FE"/>
          </a:solidFill>
          <a:ln w="12700">
            <a:solidFill>
              <a:srgbClr val="22C55E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1498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21B2C"/>
                </a:solidFill>
              </a:rPr>
              <a:t>Un SPRINT es el ciclo basico de Agil (1-4 semanas). Al final de cada sprint se entrega al cliente algo que FUNCIONA para que lo revise.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0040" y="16642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47857"/>
                </a:solidFill>
              </a:rPr>
              <a:t>El ciclo de un Sprint: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93392"/>
            <a:ext cx="1783080" cy="1188720"/>
          </a:xfrm>
          <a:prstGeom prst="rect">
            <a:avLst/>
          </a:prstGeom>
          <a:solidFill>
            <a:srgbClr val="021B2C"/>
          </a:solidFill>
          <a:ln w="12700">
            <a:solidFill>
              <a:srgbClr val="0EA5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993392"/>
            <a:ext cx="178308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212140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E9"/>
                </a:solidFill>
              </a:rPr>
              <a:t>1. Planificar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EA5E9"/>
                </a:solidFill>
              </a:rPr>
              <a:t>Sprint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2523744"/>
            <a:ext cx="1627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¿Que tareas completamos esta semana?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77440" y="1993392"/>
            <a:ext cx="1783080" cy="1188720"/>
          </a:xfrm>
          <a:prstGeom prst="rect">
            <a:avLst/>
          </a:prstGeom>
          <a:solidFill>
            <a:srgbClr val="021B2C"/>
          </a:solidFill>
          <a:ln w="12700">
            <a:solidFill>
              <a:srgbClr val="22C55E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77440" y="1993392"/>
            <a:ext cx="178308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212140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2. Desarrollar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y Probar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50592" y="2523744"/>
            <a:ext cx="1627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El equipo codifica y prueba diariamente.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377440" y="3429000"/>
            <a:ext cx="1783080" cy="1188720"/>
          </a:xfrm>
          <a:prstGeom prst="rect">
            <a:avLst/>
          </a:prstGeom>
          <a:solidFill>
            <a:srgbClr val="021B2C"/>
          </a:solidFill>
          <a:ln w="12700">
            <a:solidFill>
              <a:srgbClr val="FCD34D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77440" y="3429000"/>
            <a:ext cx="178308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50592" y="355701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CD34D"/>
                </a:solidFill>
              </a:rPr>
              <a:t>3. Revisar con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CD34D"/>
                </a:solidFill>
              </a:rPr>
              <a:t>el Cliente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50592" y="3959352"/>
            <a:ext cx="1627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Se muestra lo construido al cliente.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429000"/>
            <a:ext cx="1783080" cy="1188720"/>
          </a:xfrm>
          <a:prstGeom prst="rect">
            <a:avLst/>
          </a:prstGeom>
          <a:solidFill>
            <a:srgbClr val="021B2C"/>
          </a:solidFill>
          <a:ln w="12700">
            <a:solidFill>
              <a:srgbClr val="FB923C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429000"/>
            <a:ext cx="1783080" cy="731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3557016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923C"/>
                </a:solidFill>
              </a:rPr>
              <a:t>4. Adaptar 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B923C"/>
                </a:solidFill>
              </a:rPr>
              <a:t>Mejorar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192" y="3959352"/>
            <a:ext cx="1627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F2FE"/>
                </a:solidFill>
              </a:rPr>
              <a:t>Se ajusta el plan para el proximo sprint.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444752" y="265176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</a:rPr>
              <a:t>🔄 SPRINT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</a:rPr>
              <a:t>1-4 sem.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10058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47857"/>
                </a:solidFill>
              </a:rPr>
              <a:t>Frameworks Agiles principales: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92040" y="1298448"/>
            <a:ext cx="4023360" cy="1225296"/>
          </a:xfrm>
          <a:prstGeom prst="rect">
            <a:avLst/>
          </a:prstGeom>
          <a:solidFill>
            <a:srgbClr val="F0F9FF"/>
          </a:solidFill>
          <a:ln w="12700">
            <a:solidFill>
              <a:srgbClr val="0EA5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1298448"/>
            <a:ext cx="402336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14264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A5E9"/>
                </a:solidFill>
              </a:rPr>
              <a:t>🏉  SCRUM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1700784"/>
            <a:ext cx="3840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</a:rPr>
              <a:t>• Sprints de 1-4 semanas con objetivos fijos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</a:rPr>
              <a:t>• Roles: Product Owner, Scrum Master, Dev Team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</a:rPr>
              <a:t>• Daily Standup: reunion de 15 min cada dia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92040" y="2578608"/>
            <a:ext cx="4023360" cy="1225296"/>
          </a:xfrm>
          <a:prstGeom prst="rect">
            <a:avLst/>
          </a:prstGeom>
          <a:solidFill>
            <a:srgbClr val="F0F9FF"/>
          </a:solidFill>
          <a:ln w="12700">
            <a:solidFill>
              <a:srgbClr val="22C55E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2578608"/>
            <a:ext cx="402336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7066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C55E"/>
                </a:solidFill>
              </a:rPr>
              <a:t>📋  KANBAN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83480" y="2980944"/>
            <a:ext cx="3840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</a:rPr>
              <a:t>• Tablero visual: Por hacer / En progreso / Listo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</a:rPr>
              <a:t>• Sin sprints fijos — flujo continuo de trabajo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</a:rPr>
              <a:t>• Se limita el trabajo simultaneo (WIP limit)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92040" y="3858768"/>
            <a:ext cx="4023360" cy="1225296"/>
          </a:xfrm>
          <a:prstGeom prst="rect">
            <a:avLst/>
          </a:prstGeom>
          <a:solidFill>
            <a:srgbClr val="F0F9FF"/>
          </a:solidFill>
          <a:ln w="12700">
            <a:solidFill>
              <a:srgbClr val="FCD34D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92040" y="3858768"/>
            <a:ext cx="4023360" cy="914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39867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D34D"/>
                </a:solidFill>
              </a:rPr>
              <a:t>⚡  XP (Extreme Programming)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83480" y="4261104"/>
            <a:ext cx="3840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</a:rPr>
              <a:t>• Programacion en pares: 2 personas, 1 computadora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</a:rPr>
              <a:t>• Pruebas automatizadas antes de escribir codigo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</a:rPr>
              <a:t>• Entregas muy frecuentes (cada pocos dias)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 — Ventajas, Limitaciones y Ejemplo Real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42416"/>
            <a:ext cx="3931920" cy="274320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34D39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42416"/>
            <a:ext cx="3931920" cy="3840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424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Ventajas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54533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0F2FE"/>
                </a:solidFill>
              </a:rPr>
              <a:t>Alta flexibilidad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13232" y="171907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Se puede cambiar la direccion en cualquier sprint.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98424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0F2FE"/>
                </a:solidFill>
              </a:rPr>
              <a:t>Entregas de valor constantes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13232" y="215798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El cliente recibe funcionalidad cada 1-4 semanas.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42316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0F2FE"/>
                </a:solidFill>
              </a:rPr>
              <a:t>Problemas se detectan rapido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13232" y="259689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Los errores se encuentran en el mismo sprint.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89504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86207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0F2FE"/>
                </a:solidFill>
              </a:rPr>
              <a:t>El cliente es parte del equipo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13232" y="303580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Valida y da retroalimentacion en cada ciclo.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28416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30098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0F2FE"/>
                </a:solidFill>
              </a:rPr>
              <a:t>Equipos mas motivados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3232" y="34747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La autonomia y los logros frecuentes motivan al equipo.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34840" y="1042416"/>
            <a:ext cx="3931920" cy="274320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F87171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34840" y="1042416"/>
            <a:ext cx="393192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10424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Limitaciones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17720" y="1572768"/>
            <a:ext cx="164592" cy="16459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154533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0F2FE"/>
                </a:solidFill>
              </a:rPr>
              <a:t>Requiere cliente disponible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64608" y="171907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Si el cliente no da retroalimentacion, el sprint falla.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2011680"/>
            <a:ext cx="164592" cy="16459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198424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0F2FE"/>
                </a:solidFill>
              </a:rPr>
              <a:t>Dificil escalar a equipos grandes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64608" y="215798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Mas de 9 personas por equipo genera caos.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17720" y="2450592"/>
            <a:ext cx="164592" cy="16459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242316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0F2FE"/>
                </a:solidFill>
              </a:rPr>
              <a:t>Documentacion minima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64608" y="259689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Puede causar problemas si el equipo cambia.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17720" y="2889504"/>
            <a:ext cx="164592" cy="16459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286207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0F2FE"/>
                </a:solidFill>
              </a:rPr>
              <a:t>Scope creep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64608" y="303580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El alcance puede crecer sin control sprint a sprint.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17720" y="3328416"/>
            <a:ext cx="164592" cy="16459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330098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0F2FE"/>
                </a:solidFill>
              </a:rPr>
              <a:t>No apto para requisitos 100% fijos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864608" y="34747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En contratos cerrados no hay margen para cambios.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3877056"/>
            <a:ext cx="8229600" cy="978408"/>
          </a:xfrm>
          <a:prstGeom prst="rect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34D39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11480" y="39044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D399"/>
                </a:solidFill>
              </a:rPr>
              <a:t>🚀  Ejemplo ideal para Agil: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11480" y="417880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0F2FE"/>
                </a:solidFill>
              </a:rPr>
              <a:t>Un startup que quiere crear una app de delivery para su ciudad. No saben exactamente que funciones necesitaran. Con Agil, lanzan en 2 semanas con registro y pedidos basicos, y van agregando funciones (seguimiento en tiempo real, calificaciones, historial) segun lo que los usuarios pidan.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 los 3 Modelos — Tabla Resumen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2103120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8755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Caracteristica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41448" y="987552"/>
            <a:ext cx="210312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41448" y="98755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🌊 Cascada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62856" y="987552"/>
            <a:ext cx="2103120" cy="40233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2856" y="98755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Incremental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84264" y="987552"/>
            <a:ext cx="2103120" cy="40233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84264" y="98755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🔄 Agil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426464"/>
            <a:ext cx="210312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" y="144475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Flujo de trabajo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41448" y="1426464"/>
            <a:ext cx="210312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96312" y="144475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Lineal — una fase completa a la vez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62856" y="1426464"/>
            <a:ext cx="210312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44475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Por modulos funcionales separados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84264" y="1426464"/>
            <a:ext cx="210312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39128" y="144475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Ciclos cortos (sprints de 1-4 sem)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1956816"/>
            <a:ext cx="2103120" cy="493776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" y="197510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Flexibilidad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41448" y="1956816"/>
            <a:ext cx="2103120" cy="493776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96312" y="197510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Muy baja. Cambios = reiniciar fases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62856" y="1956816"/>
            <a:ext cx="2103120" cy="493776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197510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Media. Se ajusta entre incrementos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84264" y="1956816"/>
            <a:ext cx="2103120" cy="493776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39128" y="197510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Muy alta. Cambia cada sprint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487168"/>
            <a:ext cx="210312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" y="250545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Participacion del cliente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41448" y="2487168"/>
            <a:ext cx="210312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96312" y="250545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Solo al inicio y al final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62856" y="2487168"/>
            <a:ext cx="210312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250545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Al entregar cada incremento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84264" y="2487168"/>
            <a:ext cx="210312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39128" y="2505456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Constante — revisa cada sprint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3017520"/>
            <a:ext cx="2103120" cy="493776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" y="303580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Cuando se ve el producto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441448" y="3017520"/>
            <a:ext cx="2103120" cy="493776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96312" y="303580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Al terminar el proyecto completo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62856" y="3017520"/>
            <a:ext cx="2103120" cy="493776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03580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Al final de cada incremento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684264" y="3017520"/>
            <a:ext cx="2103120" cy="493776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39128" y="303580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Al final de cada sprint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3547872"/>
            <a:ext cx="210312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4904" y="356616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Riesgo de fracaso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441448" y="3547872"/>
            <a:ext cx="210312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96312" y="356616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Alto si requisitos cambian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62856" y="3547872"/>
            <a:ext cx="210312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17720" y="356616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Medio — modulos independientes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684264" y="3547872"/>
            <a:ext cx="210312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39128" y="356616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Bajo — se corrige sprint a sprint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0040" y="4078224"/>
            <a:ext cx="2103120" cy="493776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4904" y="409651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Documentacion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441448" y="4078224"/>
            <a:ext cx="2103120" cy="493776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96312" y="409651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Muy detallada y formal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62856" y="4078224"/>
            <a:ext cx="2103120" cy="493776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17720" y="409651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Moderada por modulo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684264" y="4078224"/>
            <a:ext cx="2103120" cy="493776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39128" y="409651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Minima — se priorizan entregas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20040" y="4608576"/>
            <a:ext cx="210312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4904" y="462686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Mejor para...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441448" y="4608576"/>
            <a:ext cx="210312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496312" y="462686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Proyectos pequenos y fijos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62856" y="4608576"/>
            <a:ext cx="210312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17720" y="462686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Proyectos medianos bien definidos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684264" y="4608576"/>
            <a:ext cx="2103120" cy="49377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39128" y="4626864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Proyectos grandes o cambiantes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¿Como Elegir el Modelo Correcto para tu Proyecto?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CD34D"/>
                </a:solidFill>
              </a:rPr>
              <a:t>Hazte estas 3 preguntas antes de elegir: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8503920" cy="1078992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EA5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850392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90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❓  ¿Los requisitos estan 100% claros y NO cambiaran?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4D399"/>
                </a:solidFill>
              </a:rPr>
              <a:t>SI  → 🌊 Cascada: documenta todo y ejecuta en orden.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17647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87171"/>
                </a:solidFill>
              </a:rPr>
              <a:t>NO  → 📦 Incremental o 🔄 Agil para adaptarse.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560320"/>
            <a:ext cx="8503920" cy="1078992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34D39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560320"/>
            <a:ext cx="8503920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791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❓  ¿El cliente necesita ver avances mientras se construye?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95351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4D399"/>
                </a:solidFill>
              </a:rPr>
              <a:t>SI  → 📦 Incremental (modulos) o 🔄 Agil (sprints).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295351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87171"/>
                </a:solidFill>
              </a:rPr>
              <a:t>NO  → 🌊 Cascada si puede esperar el producto final.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749040"/>
            <a:ext cx="8503920" cy="1078992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FCD34D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749040"/>
            <a:ext cx="8503920" cy="914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679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❓  ¿El proyecto durara mas de 3 meses y/o tiene mas de 5 personas?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1422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4D399"/>
                </a:solidFill>
              </a:rPr>
              <a:t>SI  → 🔄 Agil: equipos y proyectos grandes necesitan iteracion.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41422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87171"/>
                </a:solidFill>
              </a:rPr>
              <a:t>NO  → 🌊 Cascada o 📦 Incremental para proyectos cortos.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 en Proyecto Real: Sitio Web del Colegio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A82"/>
                </a:solidFill>
              </a:rPr>
              <a:t>Escenario: El colegio necesita un sitio web para noticias, horario y contactar a profesores. Equipo de 3 estudiantes, 3 meses de plazo.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8503920" cy="274320"/>
          </a:xfrm>
          <a:prstGeom prst="rect">
            <a:avLst/>
          </a:prstGeom>
          <a:solidFill>
            <a:srgbClr val="021B2C"/>
          </a:solidFill>
          <a:ln w="12700">
            <a:solidFill>
              <a:srgbClr val="021B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CD34D"/>
                </a:solidFill>
              </a:rPr>
              <a:t>Modelo elegido: 📦 Incremental — plazo definido, funcionalidades claras, pero el director quiere ver avances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566928" cy="548640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78308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69264" y="1783080"/>
            <a:ext cx="1389888" cy="548640"/>
          </a:xfrm>
          <a:prstGeom prst="rect">
            <a:avLst/>
          </a:prstGeom>
          <a:solidFill>
            <a:srgbClr val="021B2C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178308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E9"/>
                </a:solidFill>
              </a:rPr>
              <a:t>Requisitos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41448" y="1783080"/>
            <a:ext cx="64008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828800"/>
            <a:ext cx="6190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Se reune con el director para listar: paginas necesarias, colores del colegio, quienes pueden editar contenido.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432304"/>
            <a:ext cx="566928" cy="548640"/>
          </a:xfrm>
          <a:prstGeom prst="rect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43230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69264" y="2432304"/>
            <a:ext cx="1389888" cy="548640"/>
          </a:xfrm>
          <a:prstGeom prst="rect">
            <a:avLst/>
          </a:prstGeom>
          <a:solidFill>
            <a:srgbClr val="021B2C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2432304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55F7"/>
                </a:solidFill>
              </a:rPr>
              <a:t>Diseno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41448" y="2432304"/>
            <a:ext cx="64008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2478024"/>
            <a:ext cx="6190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Se hacen bocetos en papel de cada pagina. Se define navegacion: menu, footer, paleta de colores institucional.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081528"/>
            <a:ext cx="566928" cy="548640"/>
          </a:xfrm>
          <a:prstGeom prst="rect">
            <a:avLst/>
          </a:prstGeom>
          <a:solidFill>
            <a:srgbClr val="34D399">
              <a:alpha val="7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08152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69264" y="3081528"/>
            <a:ext cx="1389888" cy="548640"/>
          </a:xfrm>
          <a:prstGeom prst="rect">
            <a:avLst/>
          </a:prstGeom>
          <a:solidFill>
            <a:srgbClr val="021B2C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" y="308152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</a:rPr>
              <a:t>Desarrollo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441448" y="3081528"/>
            <a:ext cx="64008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3127248"/>
            <a:ext cx="6190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Sprint 1: Home + Menu. Sprint 2: Noticias. Sprint 3: Horario. Sprint 4: Contacto + Panel de admin.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730752"/>
            <a:ext cx="566928" cy="548640"/>
          </a:xfrm>
          <a:prstGeom prst="rect">
            <a:avLst/>
          </a:prstGeom>
          <a:solidFill>
            <a:srgbClr val="FCD34D">
              <a:alpha val="70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73075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69264" y="3730752"/>
            <a:ext cx="1389888" cy="548640"/>
          </a:xfrm>
          <a:prstGeom prst="rect">
            <a:avLst/>
          </a:prstGeom>
          <a:solidFill>
            <a:srgbClr val="021B2C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9264" y="373075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CD34D"/>
                </a:solidFill>
              </a:rPr>
              <a:t>Pruebas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441448" y="3730752"/>
            <a:ext cx="64008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3776472"/>
            <a:ext cx="6190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Se prueba en Chrome, Firefox, Safari, en celular y tablet. Se valida velocidad de carga y formularios.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4379976"/>
            <a:ext cx="566928" cy="548640"/>
          </a:xfrm>
          <a:prstGeom prst="rect">
            <a:avLst/>
          </a:prstGeom>
          <a:solidFill>
            <a:srgbClr val="FB923C">
              <a:alpha val="7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37997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969264" y="4379976"/>
            <a:ext cx="1389888" cy="548640"/>
          </a:xfrm>
          <a:prstGeom prst="rect">
            <a:avLst/>
          </a:prstGeom>
          <a:solidFill>
            <a:srgbClr val="021B2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9264" y="4379976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923C"/>
                </a:solidFill>
              </a:rPr>
              <a:t>Despliegue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441448" y="4379976"/>
            <a:ext cx="64008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0" y="4425696"/>
            <a:ext cx="6190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Se sube a hosting con dominio del colegio. Se capacita al encargado de noticias para actualizar contenido.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>
              <a:alpha val="1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0EA5E9"/>
                </a:solidFill>
              </a:rPr>
              <a:t>LO QUE APRENDIMOS HOY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804672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F2FE"/>
                </a:solidFill>
              </a:rPr>
              <a:t>La Ingenieria del Software da sistematizacion y orden al desarrollo.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0F2FE"/>
                </a:solidFill>
              </a:rPr>
              <a:t>Los 3 modelos de proceso son guias con diferente nivel de flexibilidad y estructura.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0F2FE"/>
                </a:solidFill>
              </a:rPr>
              <a:t>Elegir el modelo correcto depende del proyecto, el cliente y los requisitos.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029968"/>
            <a:ext cx="2286000" cy="182880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0EA5E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029968"/>
            <a:ext cx="228600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157984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A5E9"/>
                </a:solidFill>
              </a:rPr>
              <a:t>🌊 Cascada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0392" y="265176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F2FE"/>
                </a:solidFill>
              </a:rPr>
              <a:t>Lineal · Fijo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F2FE"/>
                </a:solidFill>
              </a:rPr>
              <a:t>Una fase a la vez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029968"/>
            <a:ext cx="2286000" cy="182880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34D399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2029968"/>
            <a:ext cx="2286000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2157984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</a:rPr>
              <a:t>📦 Incremental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56432" y="265176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F2FE"/>
                </a:solidFill>
              </a:rPr>
              <a:t>Modular · Parcial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F2FE"/>
                </a:solidFill>
              </a:rPr>
              <a:t>Entregas por partes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89320" y="2029968"/>
            <a:ext cx="2286000" cy="1828800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FCD34D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2029968"/>
            <a:ext cx="2286000" cy="914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2157984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34D"/>
                </a:solidFill>
              </a:rPr>
              <a:t>🔄 Agil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62472" y="265176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F2FE"/>
                </a:solidFill>
              </a:rPr>
              <a:t>Iterativo · Flexible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0F2FE"/>
                </a:solidFill>
              </a:rPr>
              <a:t>Sprints frecuentes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663440"/>
            <a:ext cx="85039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1B2C"/>
                </a:solidFill>
              </a:rPr>
              <a:t>Prof. Jefernee Ruiz  ·  Diseno Web  ·  Decimo Año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2526</Words>
  <Application>Microsoft Office PowerPoint</Application>
  <PresentationFormat>Presentación en pantalla (16:9)</PresentationFormat>
  <Paragraphs>355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Ingenieria del Software v3</dc:title>
  <dc:subject>PptxGenJS Presentation</dc:subject>
  <dc:creator>PptxGenJS</dc:creator>
  <cp:lastModifiedBy>antoyefruizg04@gmail.com</cp:lastModifiedBy>
  <cp:revision>2</cp:revision>
  <dcterms:created xsi:type="dcterms:W3CDTF">2026-03-10T20:38:59Z</dcterms:created>
  <dcterms:modified xsi:type="dcterms:W3CDTF">2026-03-10T20:53:50Z</dcterms:modified>
</cp:coreProperties>
</file>