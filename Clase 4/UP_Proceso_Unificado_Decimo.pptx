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256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DÉCIMO AÑO  ·  DISEÑO DE SOFTWARE  ·  UNIDAD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92608" y="658368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Unificado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92608" y="3337560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desarrollo de software en fases iterativas e incrementales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03720" y="987552"/>
            <a:ext cx="192024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98755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Inicio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810512"/>
            <a:ext cx="192024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81051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Elaboración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2633472"/>
            <a:ext cx="192024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63347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Construcción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3456432"/>
            <a:ext cx="192024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456432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Transición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" y="4663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Proceso Unificado?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61872"/>
            <a:ext cx="5029200" cy="1115568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07592"/>
            <a:ext cx="47000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marco de trabajo que organiza el desarrollo de software en fases iterativas e incrementales, usando componentes reutilizables."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50992" y="1261872"/>
            <a:ext cx="3108960" cy="1115568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316736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sabés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1591056"/>
            <a:ext cx="2889504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645920"/>
            <a:ext cx="2889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→ construir por partes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→ ciclos cortos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UP combina ambos con más estructura.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514600"/>
            <a:ext cx="2743200" cy="2176272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514600"/>
            <a:ext cx="27432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26151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por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" y="3200400"/>
            <a:ext cx="246888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26440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lo que el usuario necesita hacer.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64408" y="2514600"/>
            <a:ext cx="2743200" cy="2176272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2514600"/>
            <a:ext cx="27432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26151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Centrado en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01568" y="3200400"/>
            <a:ext cx="246888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326440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esqueleto del sistema se define primero.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44768" y="2514600"/>
            <a:ext cx="2743200" cy="2176272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2514600"/>
            <a:ext cx="27432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4" name="Text 22"/>
          <p:cNvSpPr/>
          <p:nvPr/>
        </p:nvSpPr>
        <p:spPr>
          <a:xfrm>
            <a:off x="6281928" y="26151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 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81928" y="3200400"/>
            <a:ext cx="246888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6" name="Text 24"/>
          <p:cNvSpPr/>
          <p:nvPr/>
        </p:nvSpPr>
        <p:spPr>
          <a:xfrm>
            <a:off x="6281928" y="326440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y mejora en ciclos cortos.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GENERAL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fases del Proceso Unificado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25296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fase se hacen las mismas actividades, pero con distinta intensidad. Todas pueden repetirse en ciclos internos.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682496"/>
            <a:ext cx="2029968" cy="306324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682496"/>
            <a:ext cx="2029968" cy="530352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700784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2240280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679192"/>
            <a:ext cx="1664208" cy="2743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7432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¿Vale la pena?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32888" y="1682496"/>
            <a:ext cx="2029968" cy="306324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32888" y="1682496"/>
            <a:ext cx="2029968" cy="530352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1700784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32888" y="2240280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2715768" y="2679192"/>
            <a:ext cx="1664208" cy="2743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532888" y="27432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haremos?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1728" y="1682496"/>
            <a:ext cx="2029968" cy="3063240"/>
          </a:xfrm>
          <a:prstGeom prst="rect">
            <a:avLst/>
          </a:prstGeom>
          <a:solidFill>
            <a:srgbClr val="3A6E9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1682496"/>
            <a:ext cx="2029968" cy="530352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1700784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81728" y="2240280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864608" y="2679192"/>
            <a:ext cx="1664208" cy="2743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681728" y="27432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construir!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30568" y="1682496"/>
            <a:ext cx="2029968" cy="3063240"/>
          </a:xfrm>
          <a:prstGeom prst="rect">
            <a:avLst/>
          </a:prstGeom>
          <a:solidFill>
            <a:srgbClr val="4A556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30568" y="1682496"/>
            <a:ext cx="2029968" cy="530352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30568" y="1700784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30568" y="2240280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013448" y="2679192"/>
            <a:ext cx="1664208" cy="27432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30568" y="27432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entregar!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14016" y="3154680"/>
            <a:ext cx="118872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2" name="Text 30"/>
          <p:cNvSpPr/>
          <p:nvPr/>
        </p:nvSpPr>
        <p:spPr>
          <a:xfrm>
            <a:off x="2404872" y="3017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62856" y="3154680"/>
            <a:ext cx="118872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4" name="Text 32"/>
          <p:cNvSpPr/>
          <p:nvPr/>
        </p:nvSpPr>
        <p:spPr>
          <a:xfrm>
            <a:off x="4553712" y="3017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11696" y="3154680"/>
            <a:ext cx="118872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6" name="Text 34"/>
          <p:cNvSpPr/>
          <p:nvPr/>
        </p:nvSpPr>
        <p:spPr>
          <a:xfrm>
            <a:off x="6702552" y="3017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4048" y="4800600"/>
            <a:ext cx="8375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puede contener varias iteraciones internas antes de avanzar a la siguiente.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EN DETALLE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01: Inicio  ·  Fase 02: Elaboración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43584"/>
            <a:ext cx="4206240" cy="3520440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43584"/>
            <a:ext cx="4206240" cy="49377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Inicio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396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¿Vale la pena construir este sistema?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98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 el cliente · Identificar casos de uso · Estimar costo y tiempo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visión · Lista inicial de requisitos · Decisión: ¿seguimos?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91456" y="1243584"/>
            <a:ext cx="4206240" cy="3520440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243584"/>
            <a:ext cx="4206240" cy="49377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Elaboración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56048" y="21396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estará construido el sistema?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56048" y="27340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798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6048" y="30540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arquitectura base · Detallar casos de uso · Gestionar riesgos técnicos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56048" y="36484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56048" y="39684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arquitectura · Plan de construcción · Riesgos identificados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EN DETALLE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03: Construcción  ·  Fase 04: Transición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43584"/>
            <a:ext cx="4206240" cy="3520440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43584"/>
            <a:ext cx="4206240" cy="493776"/>
          </a:xfrm>
          <a:prstGeom prst="rect">
            <a:avLst/>
          </a:prstGeom>
          <a:solidFill>
            <a:srgbClr val="3A6E9A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Construcción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396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implementamos todo el sistema?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98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código · Integrar componentes · Pruebas en cada iteración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6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684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funcional (versión beta) · Código documentado · Resultados de pruebas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91456" y="1243584"/>
            <a:ext cx="4206240" cy="3520440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1243584"/>
            <a:ext cx="4206240" cy="4937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Transición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56048" y="21396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sistema está listo para el usuario?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56048" y="27340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798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6048" y="30540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usuarios · Corregir errores finales · Desplegar en producción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56048" y="3648456"/>
            <a:ext cx="3858768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37124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56048" y="396849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 producción · Manual de usuario · Aceptación formal del cliente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TRABAJO  ·  DISCIPLINAS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hace en cada fase?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25296"/>
            <a:ext cx="8375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disciplinas se trabajan en todas las fases, pero con diferente intensidad. Las barras muestran el % de esfuerzo aproximado.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67328" y="16916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31536" y="16916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95744" y="169164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029968"/>
            <a:ext cx="160934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029968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03120" y="2029968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029968"/>
            <a:ext cx="1088136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0299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67328" y="2029968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67328" y="2029968"/>
            <a:ext cx="466344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3767328" y="20299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31536" y="2029968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2029968"/>
            <a:ext cx="155448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1" name="Text 19"/>
          <p:cNvSpPr/>
          <p:nvPr/>
        </p:nvSpPr>
        <p:spPr>
          <a:xfrm>
            <a:off x="5431536" y="20299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95744" y="2029968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2029968"/>
            <a:ext cx="77724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4" name="Text 22"/>
          <p:cNvSpPr/>
          <p:nvPr/>
        </p:nvSpPr>
        <p:spPr>
          <a:xfrm>
            <a:off x="7095744" y="202996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2551176"/>
            <a:ext cx="160934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551176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03120" y="2551176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2551176"/>
            <a:ext cx="777240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29" name="Text 27"/>
          <p:cNvSpPr/>
          <p:nvPr/>
        </p:nvSpPr>
        <p:spPr>
          <a:xfrm>
            <a:off x="2103120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67328" y="2551176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67328" y="2551176"/>
            <a:ext cx="1088136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2" name="Text 30"/>
          <p:cNvSpPr/>
          <p:nvPr/>
        </p:nvSpPr>
        <p:spPr>
          <a:xfrm>
            <a:off x="3767328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31536" y="2551176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31536" y="2551176"/>
            <a:ext cx="310896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5" name="Text 33"/>
          <p:cNvSpPr/>
          <p:nvPr/>
        </p:nvSpPr>
        <p:spPr>
          <a:xfrm>
            <a:off x="5431536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95744" y="2551176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95744" y="2551176"/>
            <a:ext cx="77724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8" name="Text 36"/>
          <p:cNvSpPr/>
          <p:nvPr/>
        </p:nvSpPr>
        <p:spPr>
          <a:xfrm>
            <a:off x="7095744" y="25511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" y="3072384"/>
            <a:ext cx="160934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0" name="Text 38"/>
          <p:cNvSpPr/>
          <p:nvPr/>
        </p:nvSpPr>
        <p:spPr>
          <a:xfrm>
            <a:off x="384048" y="3072384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103120" y="3072384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3072384"/>
            <a:ext cx="310896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43" name="Text 41"/>
          <p:cNvSpPr/>
          <p:nvPr/>
        </p:nvSpPr>
        <p:spPr>
          <a:xfrm>
            <a:off x="2103120" y="3072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67328" y="3072384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67328" y="3072384"/>
            <a:ext cx="932688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6" name="Text 44"/>
          <p:cNvSpPr/>
          <p:nvPr/>
        </p:nvSpPr>
        <p:spPr>
          <a:xfrm>
            <a:off x="3767328" y="3072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31536" y="3072384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31536" y="3072384"/>
            <a:ext cx="621792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49" name="Text 47"/>
          <p:cNvSpPr/>
          <p:nvPr/>
        </p:nvSpPr>
        <p:spPr>
          <a:xfrm>
            <a:off x="5431536" y="3072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95744" y="3072384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95744" y="3072384"/>
            <a:ext cx="155448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52" name="Text 50"/>
          <p:cNvSpPr/>
          <p:nvPr/>
        </p:nvSpPr>
        <p:spPr>
          <a:xfrm>
            <a:off x="7095744" y="3072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4048" y="3593592"/>
            <a:ext cx="160934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54" name="Text 52"/>
          <p:cNvSpPr/>
          <p:nvPr/>
        </p:nvSpPr>
        <p:spPr>
          <a:xfrm>
            <a:off x="384048" y="3593592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103120" y="3593592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03120" y="3593592"/>
            <a:ext cx="77724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57" name="Text 55"/>
          <p:cNvSpPr/>
          <p:nvPr/>
        </p:nvSpPr>
        <p:spPr>
          <a:xfrm>
            <a:off x="2103120" y="35935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67328" y="3593592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67328" y="3593592"/>
            <a:ext cx="310896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60" name="Text 58"/>
          <p:cNvSpPr/>
          <p:nvPr/>
        </p:nvSpPr>
        <p:spPr>
          <a:xfrm>
            <a:off x="3767328" y="35935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31536" y="3593592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31536" y="3593592"/>
            <a:ext cx="124358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3" name="Text 61"/>
          <p:cNvSpPr/>
          <p:nvPr/>
        </p:nvSpPr>
        <p:spPr>
          <a:xfrm>
            <a:off x="5431536" y="35935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95744" y="3593592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95744" y="3593592"/>
            <a:ext cx="466344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66" name="Text 64"/>
          <p:cNvSpPr/>
          <p:nvPr/>
        </p:nvSpPr>
        <p:spPr>
          <a:xfrm>
            <a:off x="7095744" y="359359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84048" y="4114800"/>
            <a:ext cx="1609344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8" name="Text 66"/>
          <p:cNvSpPr/>
          <p:nvPr/>
        </p:nvSpPr>
        <p:spPr>
          <a:xfrm>
            <a:off x="384048" y="4114800"/>
            <a:ext cx="1609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103120" y="4114800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03120" y="4114800"/>
            <a:ext cx="155448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71" name="Text 69"/>
          <p:cNvSpPr/>
          <p:nvPr/>
        </p:nvSpPr>
        <p:spPr>
          <a:xfrm>
            <a:off x="2103120" y="41148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767328" y="4114800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67328" y="4114800"/>
            <a:ext cx="388620" cy="402336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74" name="Text 72"/>
          <p:cNvSpPr/>
          <p:nvPr/>
        </p:nvSpPr>
        <p:spPr>
          <a:xfrm>
            <a:off x="3767328" y="41148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431536" y="4114800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31536" y="4114800"/>
            <a:ext cx="1010412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77" name="Text 75"/>
          <p:cNvSpPr/>
          <p:nvPr/>
        </p:nvSpPr>
        <p:spPr>
          <a:xfrm>
            <a:off x="5431536" y="41148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095744" y="4114800"/>
            <a:ext cx="1554480" cy="402336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95744" y="4114800"/>
            <a:ext cx="1399032" cy="40233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80" name="Text 78"/>
          <p:cNvSpPr/>
          <p:nvPr/>
        </p:nvSpPr>
        <p:spPr>
          <a:xfrm>
            <a:off x="7095744" y="41148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2" name="Shape 80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 ·  CONEXIÓN CON LO APRENDIDO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vs. modelos que ya conocés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261872"/>
            <a:ext cx="1920240" cy="566928"/>
          </a:xfrm>
          <a:prstGeom prst="rect">
            <a:avLst/>
          </a:prstGeom>
          <a:solidFill>
            <a:srgbClr val="1C2B4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61872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67712" y="1261872"/>
            <a:ext cx="1572768" cy="566928"/>
          </a:xfrm>
          <a:prstGeom prst="rect">
            <a:avLst/>
          </a:prstGeom>
          <a:solidFill>
            <a:srgbClr val="1C2B4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2576" y="12618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261872"/>
            <a:ext cx="1572768" cy="566928"/>
          </a:xfrm>
          <a:prstGeom prst="rect">
            <a:avLst/>
          </a:prstGeom>
          <a:solidFill>
            <a:srgbClr val="1C2B4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95344" y="12618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13248" y="1261872"/>
            <a:ext cx="1572768" cy="566928"/>
          </a:xfrm>
          <a:prstGeom prst="rect">
            <a:avLst/>
          </a:prstGeom>
          <a:solidFill>
            <a:srgbClr val="1C2B4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8112" y="12618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86016" y="1261872"/>
            <a:ext cx="1810512" cy="566928"/>
          </a:xfrm>
          <a:prstGeom prst="rect">
            <a:avLst/>
          </a:prstGeom>
          <a:solidFill>
            <a:srgbClr val="1C2B4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261872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Unificado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1828800"/>
            <a:ext cx="1920240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828800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67712" y="1828800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18288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(una vez)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1828800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95344" y="18288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secuenciales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13248" y="1828800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18288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cortos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86016" y="1828800"/>
            <a:ext cx="1810512" cy="566928"/>
          </a:xfrm>
          <a:prstGeom prst="rect">
            <a:avLst/>
          </a:prstGeom>
          <a:solidFill>
            <a:srgbClr val="2D5F8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828800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fases + iteraciones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395728"/>
            <a:ext cx="1920240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395728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67712" y="2395728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22576" y="239572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395728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95344" y="239572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13248" y="2395728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8112" y="239572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86016" y="2395728"/>
            <a:ext cx="1810512" cy="566928"/>
          </a:xfrm>
          <a:prstGeom prst="rect">
            <a:avLst/>
          </a:prstGeom>
          <a:solidFill>
            <a:srgbClr val="2D5F8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2395728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Media-Alta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2962656"/>
            <a:ext cx="1920240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2962656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67712" y="2962656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22576" y="29626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extensa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2962656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344" y="29626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13248" y="2962656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68112" y="296265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86016" y="2962656"/>
            <a:ext cx="1810512" cy="566928"/>
          </a:xfrm>
          <a:prstGeom prst="rect">
            <a:avLst/>
          </a:prstGeom>
          <a:solidFill>
            <a:srgbClr val="2D5F8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2962656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7472" y="3529584"/>
            <a:ext cx="1920240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3529584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del cliente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67712" y="3529584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22576" y="352958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al inicio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840480" y="3529584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95344" y="352958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módulo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13248" y="3529584"/>
            <a:ext cx="1572768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68112" y="352958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86016" y="3529584"/>
            <a:ext cx="1810512" cy="566928"/>
          </a:xfrm>
          <a:prstGeom prst="rect">
            <a:avLst/>
          </a:prstGeom>
          <a:solidFill>
            <a:srgbClr val="2D5F8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3529584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fase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7472" y="4096512"/>
            <a:ext cx="1920240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" y="4096512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para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267712" y="4096512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22576" y="40965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fijos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840480" y="4096512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95344" y="40965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claros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13248" y="4096512"/>
            <a:ext cx="1572768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68112" y="40965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frecuentes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986016" y="4096512"/>
            <a:ext cx="1810512" cy="566928"/>
          </a:xfrm>
          <a:prstGeom prst="rect">
            <a:avLst/>
          </a:prstGeom>
          <a:solidFill>
            <a:srgbClr val="2D5F8A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40880" y="4096512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medianos/grandes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7" name="Shape 65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68" name="Text 66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REAL  ·  SISTEMA EDUS — CCSS COSTA RICA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UP en la práctica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25296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Expediente Digital Único de Salud (EDUS) de la CCSS es uno de los sistemas de software más grandes de Costa Rica. Sus 4 fases del UP: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737360"/>
            <a:ext cx="1572768" cy="56692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73736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Inicio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1737360"/>
            <a:ext cx="6729984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1737360"/>
            <a:ext cx="6510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identificó el problema: expedientes en papel se perdían o tardaban en encontrarse. Se estimó el proyecto y se decidió la inversión.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468880"/>
            <a:ext cx="1572768" cy="566928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46888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Elaboración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29968" y="2468880"/>
            <a:ext cx="6729984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57984" y="2468880"/>
            <a:ext cx="6510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diseñó la arquitectura: base de datos de pacientes, módulo de citas, medicamentos. Se evaluaron los riesgos de seguridad de datos.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200400"/>
            <a:ext cx="1572768" cy="566928"/>
          </a:xfrm>
          <a:prstGeom prst="rect">
            <a:avLst/>
          </a:prstGeom>
          <a:solidFill>
            <a:srgbClr val="3A6E9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20040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Construcción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29968" y="3200400"/>
            <a:ext cx="6729984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3200400"/>
            <a:ext cx="6510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programó por módulos en iteraciones: primero citas, luego expedientes, luego medicamentos. Cada uno fue probado antes de integrarse.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931920"/>
            <a:ext cx="1572768" cy="56692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931920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Transición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29968" y="3931920"/>
            <a:ext cx="6729984" cy="566928"/>
          </a:xfrm>
          <a:prstGeom prst="rect">
            <a:avLst/>
          </a:prstGeom>
          <a:solidFill>
            <a:srgbClr val="F4F6F9"/>
          </a:solidFill>
          <a:ln w="3810">
            <a:solidFill>
              <a:srgbClr val="C8D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57984" y="3931920"/>
            <a:ext cx="6510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capacitó al personal médico de toda la CCSS. Se corrigieron errores en uso real. Hoy más de 9 millones de costarricenses tienen expediente digital.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DECISIONES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3891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usar el UP?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411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243584"/>
            <a:ext cx="4114800" cy="3493008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43584"/>
            <a:ext cx="4114800" cy="493776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61872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conviene cuando...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80390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es mediano o grande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pueden cambiar con el tiempo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 varios tipos de usuarios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documentación clara y estructurada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tiene varios desarrolladores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y calidad son prioritarias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43584"/>
            <a:ext cx="4114800" cy="3493008"/>
          </a:xfrm>
          <a:prstGeom prst="rect">
            <a:avLst/>
          </a:prstGeom>
          <a:solidFill>
            <a:srgbClr val="F4F6F9"/>
          </a:solidFill>
          <a:ln w="6350">
            <a:solidFill>
              <a:srgbClr val="C8D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43584"/>
            <a:ext cx="4114800" cy="493776"/>
          </a:xfrm>
          <a:prstGeom prst="rect">
            <a:avLst/>
          </a:prstGeom>
          <a:solidFill>
            <a:srgbClr val="6B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261872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conviene cuando...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1828800"/>
            <a:ext cx="3803904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es pequeño o personal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son completamente fijos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es de una sola persona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plazo de entrega es muy corto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presupuesto para documentación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6048"/>
            <a:ext cx="9144000" cy="36576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992624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  ·  Décimo Año — Diseño de Software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26864"/>
            <a:ext cx="9144000" cy="516636"/>
          </a:xfrm>
          <a:prstGeom prst="rect">
            <a:avLst/>
          </a:prstGeom>
          <a:solidFill>
            <a:srgbClr val="131E30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2608" y="493776"/>
            <a:ext cx="8595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92608" y="1133856"/>
            <a:ext cx="8558784" cy="4572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1298448"/>
            <a:ext cx="4224528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298448"/>
            <a:ext cx="640080" cy="144475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298448"/>
            <a:ext cx="640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32688" y="1463040"/>
            <a:ext cx="36576" cy="11155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1481328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Unificado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2416" y="1865376"/>
            <a:ext cx="320040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" y="1938528"/>
            <a:ext cx="33467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que organiza el desarrollo de software en 4 fases iterativas e incrementales.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36592" y="1298448"/>
            <a:ext cx="4224528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1298448"/>
            <a:ext cx="640080" cy="1444752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298448"/>
            <a:ext cx="640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376672" y="1463040"/>
            <a:ext cx="36576" cy="11155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481328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fases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0" y="1865376"/>
            <a:ext cx="320040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938528"/>
            <a:ext cx="33467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→ Elaboración → Construcción → Transición, cada una con entregables claros.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" y="2889504"/>
            <a:ext cx="4224528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2889504"/>
            <a:ext cx="640080" cy="1444752"/>
          </a:xfrm>
          <a:prstGeom prst="rect">
            <a:avLst/>
          </a:prstGeom>
          <a:solidFill>
            <a:srgbClr val="3A6E9A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2889504"/>
            <a:ext cx="640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32688" y="3054096"/>
            <a:ext cx="36576" cy="11155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" y="3072384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trabajo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042416" y="3456432"/>
            <a:ext cx="320040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27" name="Text 25"/>
          <p:cNvSpPr/>
          <p:nvPr/>
        </p:nvSpPr>
        <p:spPr>
          <a:xfrm>
            <a:off x="1042416" y="3529584"/>
            <a:ext cx="33467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disciplinas que se trabajan en paralelo con distinta intensidad en cada fase.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36592" y="2889504"/>
            <a:ext cx="4224528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2889504"/>
            <a:ext cx="640080" cy="144475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0" name="Text 28"/>
          <p:cNvSpPr/>
          <p:nvPr/>
        </p:nvSpPr>
        <p:spPr>
          <a:xfrm>
            <a:off x="4736592" y="2889504"/>
            <a:ext cx="64008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376672" y="3054096"/>
            <a:ext cx="36576" cy="111556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3072384"/>
            <a:ext cx="3346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usarlo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0" y="3456432"/>
            <a:ext cx="3200400" cy="27432"/>
          </a:xfrm>
          <a:prstGeom prst="rect">
            <a:avLst/>
          </a:prstGeom>
          <a:solidFill>
            <a:srgbClr val="C8D0DC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3529584"/>
            <a:ext cx="33467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medianos o grandes, con varios usuarios, cambios esperados y documentación.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" y="46908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Jefernee Ruiz  ·  CTP San Pedro de Barva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2026-04-07T22:23:59Z</dcterms:created>
  <dcterms:modified xsi:type="dcterms:W3CDTF">2026-04-07T22:23:59Z</dcterms:modified>
</cp:coreProperties>
</file>