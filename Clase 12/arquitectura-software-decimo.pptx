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unidad. Arrancar preguntando al grupo: ¿de qué partes creen que está hecha una página web por dentro? Anotar sus respuestas en la pizarra y retomarlas en la diapositiva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este caso bien claro antes de seguir: es el ejemplo base de la unidad, aunque en géneros, estilos web, patrones y arquetipos aparecen otros sistemas para comparar. Se puede pedir al grupo que agregue algo que también debería hacer.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Ligar con la diapositiva anterior: ahí vimos las partes del sistema de notas; aquí vemos que la arquitectura son esas partes MÁS sus relaciones y sus reglas. La columna derecha es la que más se pregunta en examen.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la descripción arquitectónica es un documento, no solo un dibujo. Incluye el porqué de cada decisión. Pedirles que digan qué vista usarían para explicarle el sistema al director.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diferencia clave: el género dice a qué campo pertenece el sistema; el estilo dice cómo están organizadas sus partes por dentro. Pedir apps que use el grupo y clasificarlas en estos seis géneros.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las cuatro tarjetas y preguntar cuál escogerían para el sistema de notas del colegio y por qué. La respuesta esperada es por capas: un solo colegio, equipo pequeño.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Recalcar: el patrón siempre nace de un problema repetido. Si no hay problema, no hay patrón. Preguntar cuál de los cuatro le serviría también al sistema de notas.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cubre directamente el indicador de logro: diferenciar géneros y estilos.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Después del ejemplo de la biblioteca, pedirles que identifiquen los cuatro arquetipos en el sistema de notas: el formulario, la pantalla del promedio y el módulo que ordena calcular.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primero las dos formas con los dibujitos: en la A todo vive en un solo programa y un solo servidor; en la B son tres programas que se hablan entre ellos. Luego recorrer los puntos verdes y rojos. Preguntar: ¿y si el sistema fuera para todos los colegios del país?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tiempo, dibujar en la pizarra dos versiones del mismo sistema: una con muchas dependencias cruzadas y una ordenada por capas, y contar las flechas de cada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de izquierda a derecha: el flujo de datos dice QUÉ hace el sistema con los datos; el diagrama de componentes dice CÓMO se reparte eso en módulos. Explicar la notación con la leyenda: el rectángulo con pestañitas es un componente (un módulo); el circulito es una interfaz, o sea, lo que ese módulo ofrece a los demás; la flecha punteada dice quién usa a quién. Recorrerlo: la Interfaz usa IRegistrarNota que ofrece el Control; el Control usa ICalcular del Cálculo y IGuardarNota del Repositorio; el Repositorio usa la Base de datos. Notar que la Interfaz NUNCA toca la base de datos: esa es la restricción que vimos en la diapositiva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754880" cy="4754880"/>
          </a:xfrm>
          <a:prstGeom prst="ellipse">
            <a:avLst/>
          </a:prstGeom>
          <a:solidFill>
            <a:srgbClr val="121A4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121A4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  ·  DÉCIMO AÑO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Arquitectónico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Software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planean por dentro las páginas y aplicaciones web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046988" cy="411480"/>
          </a:xfrm>
          <a:prstGeom prst="roundRect">
            <a:avLst>
              <a:gd name="adj" fmla="val 44444"/>
            </a:avLst>
          </a:prstGeom>
          <a:solidFill>
            <a:srgbClr val="121A4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1046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34540" y="4526280"/>
            <a:ext cx="1046988" cy="411480"/>
          </a:xfrm>
          <a:prstGeom prst="roundRect">
            <a:avLst>
              <a:gd name="adj" fmla="val 44444"/>
            </a:avLst>
          </a:prstGeom>
          <a:solidFill>
            <a:srgbClr val="121A4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34540" y="4526280"/>
            <a:ext cx="1046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4526280"/>
            <a:ext cx="1152144" cy="411480"/>
          </a:xfrm>
          <a:prstGeom prst="roundRect">
            <a:avLst>
              <a:gd name="adj" fmla="val 44444"/>
            </a:avLst>
          </a:prstGeom>
          <a:solidFill>
            <a:srgbClr val="121A4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46120" y="45262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62856" y="4526280"/>
            <a:ext cx="1362456" cy="411480"/>
          </a:xfrm>
          <a:prstGeom prst="roundRect">
            <a:avLst>
              <a:gd name="adj" fmla="val 44444"/>
            </a:avLst>
          </a:prstGeom>
          <a:solidFill>
            <a:srgbClr val="121A4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2856" y="4526280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9904" y="4526280"/>
            <a:ext cx="1783080" cy="411480"/>
          </a:xfrm>
          <a:prstGeom prst="roundRect">
            <a:avLst>
              <a:gd name="adj" fmla="val 44444"/>
            </a:avLst>
          </a:prstGeom>
          <a:solidFill>
            <a:srgbClr val="121A4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9904" y="4526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datos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que vamos a diseñar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Será nuestro ejemplo base; en algunas partes lo compararemos con otros sistemas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532120" cy="1481328"/>
          </a:xfrm>
          <a:prstGeom prst="roundRect">
            <a:avLst>
              <a:gd name="adj" fmla="val 3704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requerimiento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2140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colegio necesita un sistema web donde cada docente registre las notas de sus grupos y el sistema calcule solo la nota final, tomando en cuenta el porcentaje que vale cada rubro (tareas, pruebas, trabajo cotidiano).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101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debe hacer?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3813048"/>
            <a:ext cx="329184" cy="329184"/>
          </a:xfrm>
          <a:prstGeom prst="ellipse">
            <a:avLst/>
          </a:prstGeom>
          <a:solidFill>
            <a:srgbClr val="C87F1B"/>
          </a:solidFill>
          <a:ln w="12700">
            <a:solidFill>
              <a:srgbClr val="C87F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8221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la nota de cada estudiante en cada rubro.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4453128"/>
            <a:ext cx="329184" cy="329184"/>
          </a:xfrm>
          <a:prstGeom prst="ellipse">
            <a:avLst/>
          </a:prstGeom>
          <a:solidFill>
            <a:srgbClr val="C87F1B"/>
          </a:solidFill>
          <a:ln w="12700">
            <a:solidFill>
              <a:srgbClr val="C87F1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4622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porcentaje que vale cada rubro.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5093208"/>
            <a:ext cx="329184" cy="329184"/>
          </a:xfrm>
          <a:prstGeom prst="ellipse">
            <a:avLst/>
          </a:prstGeom>
          <a:solidFill>
            <a:srgbClr val="C87F1B"/>
          </a:solidFill>
          <a:ln w="12700">
            <a:solidFill>
              <a:srgbClr val="C87F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5093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51023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y mostrar el promedio final.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5733288"/>
            <a:ext cx="329184" cy="329184"/>
          </a:xfrm>
          <a:prstGeom prst="ellipse">
            <a:avLst/>
          </a:prstGeom>
          <a:solidFill>
            <a:srgbClr val="C87F1B"/>
          </a:solidFill>
          <a:ln w="12700">
            <a:solidFill>
              <a:srgbClr val="C87F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5733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5742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todo para poder consultarlo después.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1627632"/>
            <a:ext cx="5239512" cy="4590288"/>
          </a:xfrm>
          <a:prstGeom prst="roundRect">
            <a:avLst>
              <a:gd name="adj" fmla="val 1195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18105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conecta por dentro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03720" y="2286000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CADC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59168" y="2340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59168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 las notas en la pantalla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006840" y="2962656"/>
            <a:ext cx="0" cy="201168"/>
          </a:xfrm>
          <a:prstGeom prst="line">
            <a:avLst/>
          </a:prstGeom>
          <a:noFill/>
          <a:ln w="25400">
            <a:solidFill>
              <a:srgbClr val="C87F1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903720" y="3182112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59168" y="3236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3502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formularios y las boletas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006840" y="3858768"/>
            <a:ext cx="0" cy="201168"/>
          </a:xfrm>
          <a:prstGeom prst="line">
            <a:avLst/>
          </a:prstGeom>
          <a:noFill/>
          <a:ln w="25400">
            <a:solidFill>
              <a:srgbClr val="C87F1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903720" y="4078224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59168" y="4133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059168" y="4398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los porcentajes y calcula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006840" y="4754880"/>
            <a:ext cx="0" cy="201168"/>
          </a:xfrm>
          <a:prstGeom prst="line">
            <a:avLst/>
          </a:prstGeom>
          <a:noFill/>
          <a:ln w="25400">
            <a:solidFill>
              <a:srgbClr val="C87F1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903720" y="4974336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59168" y="5029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059168" y="52943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notas y promedios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903720" y="576072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esto se ejecuta en el servidor del colegio, y el docente entra desde el navegador.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arquitectura y por qué importa?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interno de un programa, decidido antes de escribir el código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de software es la forma en que se organizan las partes de un programa y la manera en que esas partes se comunican entre ellas.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5532120" cy="1170432"/>
          </a:xfrm>
          <a:prstGeom prst="roundRect">
            <a:avLst>
              <a:gd name="adj" fmla="val 4688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54203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2523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2816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partes que hacen el trabajo.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089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 de notas: </a:t>
            </a:r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interfaz, la lógica de cálculo, la base de datos y el servidor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532120" cy="1170432"/>
          </a:xfrm>
          <a:prstGeom prst="roundRect">
            <a:avLst>
              <a:gd name="adj" fmla="val 4688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8039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785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078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conectan las partes y se pasan la información.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3708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 de notas: </a:t>
            </a:r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le pide el promedio a la lógica, y la lógica consulta la base de datos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919472"/>
            <a:ext cx="5532120" cy="1170432"/>
          </a:xfrm>
          <a:prstGeom prst="roundRect">
            <a:avLst>
              <a:gd name="adj" fmla="val 4688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506577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5065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5047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53400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sí y lo que no se puede hacer en ese diseño.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63270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 de notas: </a:t>
            </a:r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nunca consulta la base de datos por su cuenta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1627632"/>
            <a:ext cx="5239512" cy="4498848"/>
          </a:xfrm>
          <a:prstGeom prst="roundRect">
            <a:avLst>
              <a:gd name="adj" fmla="val 1220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18105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 importante?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675120" y="2212848"/>
            <a:ext cx="469087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03136" y="2340864"/>
            <a:ext cx="329184" cy="329184"/>
          </a:xfrm>
          <a:prstGeom prst="ellipse">
            <a:avLst/>
          </a:prstGeom>
          <a:solidFill>
            <a:srgbClr val="C87F1B"/>
          </a:solidFill>
          <a:ln w="12700">
            <a:solidFill>
              <a:srgbClr val="C87F1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03136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05472" y="2331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decide al inicio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205472" y="259689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primera decisión grande del proyecto: todo lo demás se construye encima de ella.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75120" y="3099816"/>
            <a:ext cx="469087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03136" y="3227832"/>
            <a:ext cx="329184" cy="329184"/>
          </a:xfrm>
          <a:prstGeom prst="ellipse">
            <a:avLst/>
          </a:prstGeom>
          <a:solidFill>
            <a:srgbClr val="C87F1B"/>
          </a:solidFill>
          <a:ln w="12700">
            <a:solidFill>
              <a:srgbClr val="C87F1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03136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205472" y="3218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Arreglar después cuesta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205472" y="348386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Cambiarla a mitad del proyecto obliga a reescribir código que ya funcionaba.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75120" y="3986784"/>
            <a:ext cx="469087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03136" y="4114800"/>
            <a:ext cx="329184" cy="329184"/>
          </a:xfrm>
          <a:prstGeom prst="ellipse">
            <a:avLst/>
          </a:prstGeom>
          <a:solidFill>
            <a:srgbClr val="C87F1B"/>
          </a:solidFill>
          <a:ln w="12700">
            <a:solidFill>
              <a:srgbClr val="C87F1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0313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205472" y="41056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trabaja coordinado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205472" y="437083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saben en qué parte va cada pedazo de código y nadie hace doble trabajo.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675120" y="4873752"/>
            <a:ext cx="469087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03136" y="5001768"/>
            <a:ext cx="329184" cy="329184"/>
          </a:xfrm>
          <a:prstGeom prst="ellipse">
            <a:avLst/>
          </a:prstGeom>
          <a:solidFill>
            <a:srgbClr val="C87F1B"/>
          </a:solidFill>
          <a:ln w="12700">
            <a:solidFill>
              <a:srgbClr val="C87F1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03136" y="5001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205472" y="49926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calidad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7205472" y="525780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ella dependen la velocidad, la seguridad y qué tan fácil es agregar cosas nuevas.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675120" y="5815584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de arquitectura puede obligar a rehacer el proyecto entero.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Descripciones arquitectónicas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documento donde queda escrita la arquitectura del sistema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descripción arquitectónica es el documento que explica la arquitectura. Se organiza en vistas: cada vista muestra el sistema desde un ángulo distinto y está pensada para una persona distinta del proyecto.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51760" cy="2761488"/>
          </a:xfrm>
          <a:prstGeom prst="roundRect">
            <a:avLst>
              <a:gd name="adj" fmla="val 2069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487168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lógica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346704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partes tiene el sistema y qué hace cada una.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sirve a: Programadores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4407408"/>
            <a:ext cx="232257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44622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notas: la interfaz, la lógica y la base de datos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28416" y="2331720"/>
            <a:ext cx="2651760" cy="2761488"/>
          </a:xfrm>
          <a:prstGeom prst="roundRect">
            <a:avLst>
              <a:gd name="adj" fmla="val 2069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2487168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25696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65576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de procesos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29584" y="3346704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ocurre mientras el programa está funcionando.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65576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sirve a: Equipo técnico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93008" y="4407408"/>
            <a:ext cx="232257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84448" y="44622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notas: qué pasa al pulsar el botón Calcular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08192" y="2331720"/>
            <a:ext cx="2651760" cy="2761488"/>
          </a:xfrm>
          <a:prstGeom prst="roundRect">
            <a:avLst>
              <a:gd name="adj" fmla="val 2069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05472" y="2487168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05472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45352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física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346704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computadoras o servidores vive cada parte.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45352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sirve a: Encargado de redes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72784" y="4407408"/>
            <a:ext cx="232257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64224" y="44622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notas: el servidor del colegio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887968" y="2331720"/>
            <a:ext cx="2651760" cy="2761488"/>
          </a:xfrm>
          <a:prstGeom prst="roundRect">
            <a:avLst>
              <a:gd name="adj" fmla="val 2069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85248" y="2487168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85248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de usuario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089136" y="3346704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que hace la persona que usa el sistema.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025128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sirve a: Cliente y usuarios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52560" y="4407408"/>
            <a:ext cx="232257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0" y="44622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notas: el docente entra, digita y revisa el promedio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5285232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BEFD9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 siempre se escribe: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del sistema, las decisiones importantes que se tomaron, el motivo de cada decisión y las reglas que nadie debe romper.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Géneros y estilos arquitectónicos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preguntas distintas sobre un mismo sistema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532120" cy="4498848"/>
          </a:xfrm>
          <a:prstGeom prst="roundRect">
            <a:avLst>
              <a:gd name="adj" fmla="val 1220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GÉNERO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848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qué campo pertenece el sistema?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9572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categoría o el campo al que pertenece un sistema. Importa porque cada campo exige cosas distintas: dos sistemas del mismo género se parecen por dentro, y de géneros distintos casi nunca.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4983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" y="32461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 ·  </a:t>
            </a:r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notas: no puede perder una nota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685032"/>
            <a:ext cx="4983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37307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electrónico  ·  </a:t>
            </a:r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en línea: pagos seguros y muchas visitas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169664"/>
            <a:ext cx="4983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" y="42153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 ·  </a:t>
            </a:r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médico: nunca pierde un dato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654296"/>
            <a:ext cx="4983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" y="47000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 ·  </a:t>
            </a:r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buses: horarios y rutas al instante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5138928"/>
            <a:ext cx="4983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51846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  ·  </a:t>
            </a:r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en línea: seguridad por encima de todo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5623560"/>
            <a:ext cx="4983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0976" y="56692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Videojuegos  ·  </a:t>
            </a:r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en red: velocidad y buenos gráficos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627632"/>
            <a:ext cx="5239512" cy="449884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0848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forma están organizadas sus partes?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23957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forma conocida de organizar un sistema completo. Todo estilo define cuatro cosas: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784848" y="2871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Componentes: </a:t>
            </a:r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piezas que hacen el trabajo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84848" y="3163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Conectores: </a:t>
            </a:r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dónde viaja la información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3456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Restricciones: </a:t>
            </a:r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cómo se pueden unir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Modelo semántico: </a:t>
            </a:r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entiende el sistema ya armado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40782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clásicos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75120" y="4370832"/>
            <a:ext cx="4690872" cy="310896"/>
          </a:xfrm>
          <a:prstGeom prst="roundRect">
            <a:avLst>
              <a:gd name="adj" fmla="val 11765"/>
            </a:avLst>
          </a:prstGeom>
          <a:solidFill>
            <a:srgbClr val="EDF3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84848" y="440740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Centrado en datos: </a:t>
            </a:r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gira alrededor de una base de datos central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0" y="4709160"/>
            <a:ext cx="4690872" cy="310896"/>
          </a:xfrm>
          <a:prstGeom prst="roundRect">
            <a:avLst>
              <a:gd name="adj" fmla="val 11765"/>
            </a:avLst>
          </a:prstGeom>
          <a:solidFill>
            <a:srgbClr val="EDF3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84848" y="47457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datos: </a:t>
            </a:r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pasa de una pieza a la siguiente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75120" y="5047488"/>
            <a:ext cx="4690872" cy="310896"/>
          </a:xfrm>
          <a:prstGeom prst="roundRect">
            <a:avLst>
              <a:gd name="adj" fmla="val 11765"/>
            </a:avLst>
          </a:prstGeom>
          <a:solidFill>
            <a:srgbClr val="EDF3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784848" y="508406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y retorno: </a:t>
            </a:r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programa principal llama a otras partes y espera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0" y="5385816"/>
            <a:ext cx="4690872" cy="310896"/>
          </a:xfrm>
          <a:prstGeom prst="roundRect">
            <a:avLst>
              <a:gd name="adj" fmla="val 11765"/>
            </a:avLst>
          </a:prstGeom>
          <a:solidFill>
            <a:srgbClr val="EDF3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784848" y="542239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capas: </a:t>
            </a:r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apilados; cada nivel solo llama al de abajo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5724144"/>
            <a:ext cx="4690872" cy="310896"/>
          </a:xfrm>
          <a:prstGeom prst="roundRect">
            <a:avLst>
              <a:gd name="adj" fmla="val 11765"/>
            </a:avLst>
          </a:prstGeom>
          <a:solidFill>
            <a:srgbClr val="EDF3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784848" y="576072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objetos: </a:t>
            </a:r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pieza guarda sus datos y acciones, y se comunican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estilos más usados en desarrollo web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cada uno y en qué tipo de sistema conviene más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315968"/>
          </a:xfrm>
          <a:prstGeom prst="roundRect">
            <a:avLst>
              <a:gd name="adj" fmla="val 2069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01952"/>
            <a:ext cx="2377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31720"/>
            <a:ext cx="777240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331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2331720"/>
            <a:ext cx="77724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57400" y="2331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91640" y="2523744"/>
            <a:ext cx="365760" cy="0"/>
          </a:xfrm>
          <a:prstGeom prst="line">
            <a:avLst/>
          </a:prstGeom>
          <a:noFill/>
          <a:ln w="19050">
            <a:solidFill>
              <a:srgbClr val="C87F1B"/>
            </a:solidFill>
            <a:prstDash val="solid"/>
            <a:headEnd type="triangle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731520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– Servidor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858768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(cliente) pide y el servidor responde. Es la base de toda la web.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" y="4937760"/>
            <a:ext cx="235915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5010912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va mejor? </a:t>
            </a:r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cualquier sitio web, como el sitio del colegio: siempre hay quien pide y quien responde.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28416" y="1737360"/>
            <a:ext cx="2651760" cy="4315968"/>
          </a:xfrm>
          <a:prstGeom prst="roundRect">
            <a:avLst>
              <a:gd name="adj" fmla="val 2069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65576" y="1901952"/>
            <a:ext cx="2377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48456" y="2029968"/>
            <a:ext cx="2011680" cy="310896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48456" y="20299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48456" y="2395728"/>
            <a:ext cx="2011680" cy="310896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48456" y="23957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48456" y="2761488"/>
            <a:ext cx="2011680" cy="310896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48456" y="2761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511296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capas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529584" y="3858768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Presentación, lógica y datos en tres niveles; cada nivel solo habla con el de al lado.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4937760"/>
            <a:ext cx="235915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84448" y="5010912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va mejor? </a:t>
            </a:r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sistemas de una sola institución: el de notas, el de biblioteca, el de matrícula.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08192" y="1737360"/>
            <a:ext cx="2651760" cy="4315968"/>
          </a:xfrm>
          <a:prstGeom prst="roundRect">
            <a:avLst>
              <a:gd name="adj" fmla="val 2069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45352" y="1901952"/>
            <a:ext cx="2377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73952" y="20574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7395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16952" y="20574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1695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050024" y="26060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050024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291072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3858768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(los datos), Vista (lo que se ve) y Controlador (el que coordina) en piezas aparte.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54496" y="4937760"/>
            <a:ext cx="235915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64224" y="5010912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va mejor? </a:t>
            </a:r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sistemas con muchas pantallas distintas, como una tienda en línea.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887968" y="1737360"/>
            <a:ext cx="2651760" cy="4315968"/>
          </a:xfrm>
          <a:prstGeom prst="roundRect">
            <a:avLst>
              <a:gd name="adj" fmla="val 2069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25128" y="1901952"/>
            <a:ext cx="2377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26296" y="210312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</p:sp>
      <p:sp>
        <p:nvSpPr>
          <p:cNvPr id="42" name="Shape 40"/>
          <p:cNvSpPr/>
          <p:nvPr/>
        </p:nvSpPr>
        <p:spPr>
          <a:xfrm>
            <a:off x="9939528" y="210312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52760" y="210312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</p:sp>
      <p:sp>
        <p:nvSpPr>
          <p:cNvPr id="44" name="Shape 42"/>
          <p:cNvSpPr/>
          <p:nvPr/>
        </p:nvSpPr>
        <p:spPr>
          <a:xfrm>
            <a:off x="9226296" y="265176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/>
        </p:spPr>
      </p:sp>
      <p:sp>
        <p:nvSpPr>
          <p:cNvPr id="45" name="Shape 43"/>
          <p:cNvSpPr/>
          <p:nvPr/>
        </p:nvSpPr>
        <p:spPr>
          <a:xfrm>
            <a:off x="9939528" y="265176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070848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Microservicios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9089136" y="3858768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se parte en servicios pequeños e independientes que se comunican.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034272" y="4937760"/>
            <a:ext cx="235915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144000" y="5010912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va mejor? </a:t>
            </a:r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plataformas enormes, como una red social o un servicio de streaming.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arquitectónicos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ya probadas para problemas que se repiten siempre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problemas que aparecen en casi todos los sistemas. Cuando alguien encuentra una buena solución, la escribe y los demás la reutilizan: eso es un patrón. Cada patrón nace de un problema concreto. El </a:t>
            </a:r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organiza el sistema completo; el </a:t>
            </a:r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resuelve una parte específica dentro de él.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5285232" cy="1810512"/>
          </a:xfrm>
          <a:prstGeom prst="roundRect">
            <a:avLst>
              <a:gd name="adj" fmla="val 3030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968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443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lugar guarda toda la información y las demás partes le piden los datos a él.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381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cada parte guardaba lo suyo y los datos se contradecían.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se nota más? </a:t>
            </a:r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biblioteca: un solo catálogo que consultan préstamos, multas y búsquedas.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2487168"/>
            <a:ext cx="5285232" cy="1810512"/>
          </a:xfrm>
          <a:prstGeom prst="roundRect">
            <a:avLst>
              <a:gd name="adj" fmla="val 3030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5968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 y suscribirse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9443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parte avisa que algo pasó y todas las interesadas se enteran solas.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4381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avisarle uno por uno a cada componente.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se nota más? </a:t>
            </a:r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de mensajería: alguien escribe y a todo el grupo le llega el aviso solo.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407408"/>
            <a:ext cx="5285232" cy="1810512"/>
          </a:xfrm>
          <a:prstGeom prst="roundRect">
            <a:avLst>
              <a:gd name="adj" fmla="val 3030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5171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Intermediario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646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pieza en el medio recibe todas las peticiones y las reparte.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58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demasiadas conexiones directas y desordenadas.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669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se nota más? </a:t>
            </a:r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de buses: una sola pieza consulta a varias empresas y devuelve los horarios.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4407408"/>
            <a:ext cx="5285232" cy="1810512"/>
          </a:xfrm>
          <a:prstGeom prst="roundRect">
            <a:avLst>
              <a:gd name="adj" fmla="val 3030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45171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48646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separa el código que guarda en la base de datos del resto del programa.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5358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cambiar de base de datos obligaba a rehacer todo.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5669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se nota más? </a:t>
            </a:r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notas: el código que guarda está aparte, por si cambian de base de datos.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Género, estilo y patrón: ¿en qué se diferencian?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palabras se parecen, pero responden preguntas distintas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21024" cy="3566160"/>
          </a:xfrm>
          <a:prstGeom prst="roundRect">
            <a:avLst>
              <a:gd name="adj" fmla="val 1538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621024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47088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GÉNERO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campo es?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categoría del sistema según el campo al que sirve.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84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822192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electrónico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financiero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Videojuegos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9976" y="1737360"/>
            <a:ext cx="3621024" cy="3566160"/>
          </a:xfrm>
          <a:prstGeom prst="roundRect">
            <a:avLst>
              <a:gd name="adj" fmla="val 1538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9976" y="1737360"/>
            <a:ext cx="3621024" cy="868680"/>
          </a:xfrm>
          <a:prstGeom prst="roundRect">
            <a:avLst>
              <a:gd name="adj" fmla="val 6316"/>
            </a:avLst>
          </a:prstGeom>
          <a:solidFill>
            <a:srgbClr val="3A4A8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79976" y="1847088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ESTILO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379976" y="219456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organiza?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36008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forma general de acomodar las piezas del sistema completo.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36008" y="3584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672584" y="3822192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– servidor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capas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objetos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11312" y="1737360"/>
            <a:ext cx="3621024" cy="3566160"/>
          </a:xfrm>
          <a:prstGeom prst="roundRect">
            <a:avLst>
              <a:gd name="adj" fmla="val 1538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11312" y="1737360"/>
            <a:ext cx="3621024" cy="868680"/>
          </a:xfrm>
          <a:prstGeom prst="roundRect">
            <a:avLst>
              <a:gd name="adj" fmla="val 6316"/>
            </a:avLst>
          </a:prstGeom>
          <a:solidFill>
            <a:srgbClr val="C87F1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11312" y="1847088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PATRÓN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11312" y="219456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resuelvo esto?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67344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solución ya probada para un problema puntual dentro del sistema.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467344" y="3584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3822192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y suscribirse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Intermediario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BEFD9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7881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 de notas: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género es educación · su estilo es por capas · y usa el patrón de persistencia para guardar las notas.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diseño arquitectónico paso a paso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qué son los arquetipos, las piezas base de todo el diseño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cuatro pasos del diseño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669280" cy="932688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9514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488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sistema desde afuera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define qué hace el sistema y con qué otros sistemas o personas se relaciona.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81528"/>
            <a:ext cx="5669280" cy="932688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3192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1729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sistema desde adentro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472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identifican las piezas internas y qué le toca hacer a cada una.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05656"/>
            <a:ext cx="5669280" cy="932688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1970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las piezas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47141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detalla cada componente y cómo se conecta con los demás.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29784"/>
            <a:ext cx="5669280" cy="932688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36752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2212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cada parte en su servidor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49554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decide en qué servidores o computadoras va a vivir cada parte.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1627632"/>
            <a:ext cx="5102352" cy="4498848"/>
          </a:xfrm>
          <a:prstGeom prst="roundRect">
            <a:avLst>
              <a:gd name="adj" fmla="val 1220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12280" y="18105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arquetipos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22128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arquetipo es un tipo de pieza que se repite en muchos sistemas distintos. Son pocos, y con ellos se describe casi cualquier arquitectura.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12280" y="3017520"/>
            <a:ext cx="45720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49440" y="30358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32735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pieza que agrupa varias funciones relacionadas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12280" y="3621024"/>
            <a:ext cx="45720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49440" y="36393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38770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datos que entran al sistema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812280" y="4224528"/>
            <a:ext cx="45720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49440" y="42428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4480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al usuario el estado o el resultado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812280" y="4828032"/>
            <a:ext cx="45720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49440" y="4846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50840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a los demás y ordena qué se ejecuta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812280" y="54132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sistema de biblioteca: el escáner del código es el detector, la pantalla de disponibilidad es el indicador y el módulo de préstamos es el controlador.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Evaluar diseños alternativos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nunca hay una sola arquitectura posible: hay que comparar y elegir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 mismo sistema se pueden proponer dos o tres arquitecturas distintas. Evaluar es compararlas con criterios claros y escoger con argumentos, no por gusto.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pasos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633472"/>
            <a:ext cx="402336" cy="402336"/>
          </a:xfrm>
          <a:prstGeom prst="ellipse">
            <a:avLst/>
          </a:prstGeom>
          <a:solidFill>
            <a:srgbClr val="C87F1B"/>
          </a:solidFill>
          <a:ln w="12700">
            <a:solidFill>
              <a:srgbClr val="C87F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6151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los requisitos y las cualidades que el sistema debe cumplir.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291840"/>
            <a:ext cx="402336" cy="402336"/>
          </a:xfrm>
          <a:prstGeom prst="ellipse">
            <a:avLst/>
          </a:prstGeom>
          <a:solidFill>
            <a:srgbClr val="C87F1B"/>
          </a:solidFill>
          <a:ln w="12700">
            <a:solidFill>
              <a:srgbClr val="C87F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2735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dos o más arquitecturas posibles.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950208"/>
            <a:ext cx="402336" cy="402336"/>
          </a:xfrm>
          <a:prstGeom prst="ellipse">
            <a:avLst/>
          </a:prstGeom>
          <a:solidFill>
            <a:srgbClr val="C87F1B"/>
          </a:solidFill>
          <a:ln w="12700">
            <a:solidFill>
              <a:srgbClr val="C87F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 cada una según los criterios elegidos.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608576"/>
            <a:ext cx="402336" cy="402336"/>
          </a:xfrm>
          <a:prstGeom prst="ellipse">
            <a:avLst/>
          </a:prstGeom>
          <a:solidFill>
            <a:srgbClr val="C87F1B"/>
          </a:solidFill>
          <a:ln w="12700">
            <a:solidFill>
              <a:srgbClr val="C87F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590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Escoger la mejor y anotar por qué se descartaron las otras.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5532120" cy="822960"/>
          </a:xfrm>
          <a:prstGeom prst="roundRect">
            <a:avLst>
              <a:gd name="adj" fmla="val 6667"/>
            </a:avLst>
          </a:prstGeom>
          <a:solidFill>
            <a:srgbClr val="FBEFD9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4864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la mejor arquitectura no es la más bonita, es la que cumple mejor lo que el sistema necesita.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2240280"/>
            <a:ext cx="5239512" cy="3931920"/>
          </a:xfrm>
          <a:prstGeom prst="roundRect">
            <a:avLst>
              <a:gd name="adj" fmla="val 1395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2377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dos formas de armar el sistema de notas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83680" y="2761488"/>
            <a:ext cx="2395728" cy="2542032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93408" y="2852928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93408" y="2852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8346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programa, en tres capas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20840" y="4370832"/>
            <a:ext cx="146304" cy="146304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49440" y="43159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construir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4672584"/>
            <a:ext cx="146304" cy="146304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49440" y="4617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4974336"/>
            <a:ext cx="146304" cy="146304"/>
          </a:xfrm>
          <a:prstGeom prst="ellipse">
            <a:avLst/>
          </a:prstGeom>
          <a:solidFill>
            <a:srgbClr val="A63A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49440" y="4919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crece mucho, se pone lento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3255264"/>
            <a:ext cx="2029968" cy="914400"/>
          </a:xfrm>
          <a:prstGeom prst="roundRect">
            <a:avLst>
              <a:gd name="adj" fmla="val 5000"/>
            </a:avLst>
          </a:prstGeom>
          <a:solidFill>
            <a:srgbClr val="EDF3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3319272"/>
            <a:ext cx="1755648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9D6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03720" y="331927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03720" y="3584448"/>
            <a:ext cx="1755648" cy="219456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03720" y="358444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03720" y="3849624"/>
            <a:ext cx="1755648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9D6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03720" y="384962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6675120" y="405993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el servidor del colegio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144000" y="2761488"/>
            <a:ext cx="2395728" cy="2542032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53728" y="2852928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253728" y="2852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784080" y="28346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programas separados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281160" y="4370832"/>
            <a:ext cx="146304" cy="146304"/>
          </a:xfrm>
          <a:prstGeom prst="ellipse">
            <a:avLst/>
          </a:prstGeom>
          <a:solidFill>
            <a:srgbClr val="A63A3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509760" y="43159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construir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281160" y="4672584"/>
            <a:ext cx="146304" cy="146304"/>
          </a:xfrm>
          <a:prstGeom prst="ellipse">
            <a:avLst/>
          </a:prstGeom>
          <a:solidFill>
            <a:srgbClr val="A63A3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509760" y="4617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281160" y="4974336"/>
            <a:ext cx="146304" cy="146304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509760" y="4919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Aguanta miles de usuarios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308592" y="3429000"/>
            <a:ext cx="60350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D6E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308592" y="342900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912096" y="3657600"/>
            <a:ext cx="128016" cy="0"/>
          </a:xfrm>
          <a:prstGeom prst="line">
            <a:avLst/>
          </a:prstGeom>
          <a:noFill/>
          <a:ln w="15875">
            <a:solidFill>
              <a:srgbClr val="C87F1B"/>
            </a:solidFill>
            <a:prstDash val="solid"/>
            <a:headEnd type="triangl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0040112" y="3429000"/>
            <a:ext cx="603504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040112" y="342900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0643616" y="3657600"/>
            <a:ext cx="128016" cy="0"/>
          </a:xfrm>
          <a:prstGeom prst="line">
            <a:avLst/>
          </a:prstGeom>
          <a:noFill/>
          <a:ln w="15875">
            <a:solidFill>
              <a:srgbClr val="C87F1B"/>
            </a:solidFill>
            <a:prstDash val="solid"/>
            <a:headEnd type="triangl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0771632" y="3429000"/>
            <a:ext cx="60350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D6E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771632" y="342900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Boletas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9235440" y="405993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en su propio servidor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583680" y="5440680"/>
            <a:ext cx="4956048" cy="621792"/>
          </a:xfrm>
          <a:prstGeom prst="roundRect">
            <a:avLst>
              <a:gd name="adj" fmla="val 7353"/>
            </a:avLst>
          </a:prstGeom>
          <a:solidFill>
            <a:srgbClr val="FBEFD9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720840" y="5486400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la A.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solo colegio y hay poco tiempo. Si el sistema fuera para todo el país, ganaría la B.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 arquitectónica y ADL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dependencias tiene el diseño, y con qué lenguaje se escribe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32120" cy="4434840"/>
          </a:xfrm>
          <a:prstGeom prst="roundRect">
            <a:avLst>
              <a:gd name="adj" fmla="val 1237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 arquitectónica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6771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cuántas dependencias hay entre las partes de un sistema. A más dependencias, más difícil es cambiar una parte sin romper las otras.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49834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0358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uso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735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no funciona sin el módulo de cálculo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675888"/>
            <a:ext cx="49834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6941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datos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9319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módulos leen la misma tabla de notas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334256"/>
            <a:ext cx="49834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3525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orden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59028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registrar la nota antes de calcular el promedio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1389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menos dependencias entre las partes = sistema más fácil de corregir y de ampliar.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61441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mide contando cuántas dependencias tiene cada componente.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1691640"/>
            <a:ext cx="5239512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Lenguajes de descripción (ADL)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267712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ADL es un lenguaje hecho solo para describir arquitecturas. Tiene símbolos y reglas propias, de modo que el diseño quede escrito sin dobles interpretaciones.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017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sirven?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3310128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componentes y conexiones sin ambigüedades.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diseño antes de escribir una línea de código.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dos arquitecturas con el mismo lenguaje.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sistema para quien llegue después.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892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5230368"/>
            <a:ext cx="635508" cy="411480"/>
          </a:xfrm>
          <a:prstGeom prst="roundRect">
            <a:avLst>
              <a:gd name="adj" fmla="val 44444"/>
            </a:avLst>
          </a:prstGeom>
          <a:solidFill>
            <a:srgbClr val="EDF3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5230368"/>
            <a:ext cx="63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38644" y="5230368"/>
            <a:ext cx="1321308" cy="411480"/>
          </a:xfrm>
          <a:prstGeom prst="roundRect">
            <a:avLst>
              <a:gd name="adj" fmla="val 44444"/>
            </a:avLst>
          </a:prstGeom>
          <a:solidFill>
            <a:srgbClr val="EDF3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38644" y="5230368"/>
            <a:ext cx="1321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ArchiMate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887968" y="5230368"/>
            <a:ext cx="978408" cy="411480"/>
          </a:xfrm>
          <a:prstGeom prst="roundRect">
            <a:avLst>
              <a:gd name="adj" fmla="val 44444"/>
            </a:avLst>
          </a:prstGeom>
          <a:solidFill>
            <a:srgbClr val="EDF3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87968" y="5230368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Wright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994392" y="5230368"/>
            <a:ext cx="749808" cy="411480"/>
          </a:xfrm>
          <a:prstGeom prst="roundRect">
            <a:avLst>
              <a:gd name="adj" fmla="val 44444"/>
            </a:avLst>
          </a:prstGeom>
          <a:solidFill>
            <a:srgbClr val="EDF3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94392" y="5230368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572414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clase el más usado es UML, con sus diagramas de componentes y de clases.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flujo de datos a los módulos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transformación: convertir el recorrido de los datos en el diseño de las piezas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traducir el camino que siguen los datos a una estructura de módulos (un módulo es una parte del programa con una tarea propia). Cada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burbuja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flujo de datos es una tarea; el mapeo agrupa esas tareas en módulos y el resultado se dibuja con un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componentes UML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cada módulo es un componente y las flechas muestran quién depende de quién.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91672" cy="3931920"/>
          </a:xfrm>
          <a:prstGeom prst="roundRect">
            <a:avLst>
              <a:gd name="adj" fmla="val 1395"/>
            </a:avLst>
          </a:prstGeom>
          <a:solidFill>
            <a:srgbClr val="EDF3FD"/>
          </a:solidFill>
          <a:ln w="9525">
            <a:solidFill>
              <a:srgbClr val="DCE5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944368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CADC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9443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digitadas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65960" y="3291840"/>
            <a:ext cx="0" cy="128016"/>
          </a:xfrm>
          <a:prstGeom prst="line">
            <a:avLst/>
          </a:prstGeom>
          <a:noFill/>
          <a:ln w="19050">
            <a:solidFill>
              <a:srgbClr val="C87F1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5840" y="3419856"/>
            <a:ext cx="192024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4198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65960" y="3803904"/>
            <a:ext cx="0" cy="128016"/>
          </a:xfrm>
          <a:prstGeom prst="line">
            <a:avLst/>
          </a:prstGeom>
          <a:noFill/>
          <a:ln w="19050">
            <a:solidFill>
              <a:srgbClr val="C87F1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05840" y="3931920"/>
            <a:ext cx="192024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porcentajes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65960" y="4315968"/>
            <a:ext cx="0" cy="128016"/>
          </a:xfrm>
          <a:prstGeom prst="line">
            <a:avLst/>
          </a:prstGeom>
          <a:noFill/>
          <a:ln w="19050">
            <a:solidFill>
              <a:srgbClr val="C87F1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5840" y="4443984"/>
            <a:ext cx="1920240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4439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promedio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65960" y="4828032"/>
            <a:ext cx="0" cy="128016"/>
          </a:xfrm>
          <a:prstGeom prst="line">
            <a:avLst/>
          </a:prstGeom>
          <a:noFill/>
          <a:ln w="19050">
            <a:solidFill>
              <a:srgbClr val="C87F1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4956048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956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final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440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óvalo es una burbuja: una tarea con los datos.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37673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0" y="4023360"/>
            <a:ext cx="457200" cy="365760"/>
          </a:xfrm>
          <a:prstGeom prst="rightArrow">
            <a:avLst/>
          </a:prstGeom>
          <a:solidFill>
            <a:srgbClr val="C87F1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023360" y="25237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componentes UML del sistema de notas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66360" y="2944368"/>
            <a:ext cx="2148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66360" y="2990088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31729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notas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86600" y="2999232"/>
            <a:ext cx="146304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3035808"/>
            <a:ext cx="9144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3099816"/>
            <a:ext cx="9144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66360" y="4050792"/>
            <a:ext cx="2148840" cy="603504"/>
          </a:xfrm>
          <a:prstGeom prst="rect">
            <a:avLst/>
          </a:prstGeom>
          <a:solidFill>
            <a:srgbClr val="FBEFD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66360" y="4096512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427939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notas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86600" y="4105656"/>
            <a:ext cx="146304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4142232"/>
            <a:ext cx="9144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0" y="4206240"/>
            <a:ext cx="9144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92440" y="4050792"/>
            <a:ext cx="2148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92440" y="4096512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8092440" y="427939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promedios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012680" y="4105656"/>
            <a:ext cx="146304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66960" y="4142232"/>
            <a:ext cx="9144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66960" y="4206240"/>
            <a:ext cx="9144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6360" y="5157216"/>
            <a:ext cx="2148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166360" y="5202936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«component»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5166360" y="53858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 notas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086600" y="5212080"/>
            <a:ext cx="146304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40880" y="5248656"/>
            <a:ext cx="9144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40880" y="5312664"/>
            <a:ext cx="9144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92440" y="5157216"/>
            <a:ext cx="2148840" cy="603504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092440" y="5202936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«database»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8092440" y="53858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40780" y="3867912"/>
            <a:ext cx="0" cy="18288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58484" y="3703320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368796" y="3685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IRegistrarNota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40780" y="3547872"/>
            <a:ext cx="0" cy="155448"/>
          </a:xfrm>
          <a:prstGeom prst="line">
            <a:avLst/>
          </a:prstGeom>
          <a:noFill/>
          <a:ln w="12700">
            <a:solidFill>
              <a:srgbClr val="44506B"/>
            </a:solidFill>
            <a:prstDash val="dash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7909560" y="4352544"/>
            <a:ext cx="18288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44968" y="4270248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589520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ICalcular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315200" y="4352544"/>
            <a:ext cx="429768" cy="0"/>
          </a:xfrm>
          <a:prstGeom prst="line">
            <a:avLst/>
          </a:prstGeom>
          <a:noFill/>
          <a:ln w="12700">
            <a:solidFill>
              <a:srgbClr val="44506B"/>
            </a:solidFill>
            <a:prstDash val="dash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6240780" y="4974336"/>
            <a:ext cx="0" cy="18288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58484" y="4809744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368796" y="47914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IGuardarNota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240780" y="4654296"/>
            <a:ext cx="0" cy="155448"/>
          </a:xfrm>
          <a:prstGeom prst="line">
            <a:avLst/>
          </a:prstGeom>
          <a:noFill/>
          <a:ln w="12700">
            <a:solidFill>
              <a:srgbClr val="44506B"/>
            </a:solidFill>
            <a:prstDash val="dash"/>
            <a:tailEnd type="arrow"/>
          </a:ln>
        </p:spPr>
      </p:sp>
      <p:sp>
        <p:nvSpPr>
          <p:cNvPr id="64" name="Shape 62"/>
          <p:cNvSpPr/>
          <p:nvPr/>
        </p:nvSpPr>
        <p:spPr>
          <a:xfrm>
            <a:off x="7315200" y="5458968"/>
            <a:ext cx="777240" cy="0"/>
          </a:xfrm>
          <a:prstGeom prst="line">
            <a:avLst/>
          </a:prstGeom>
          <a:noFill/>
          <a:ln w="12700">
            <a:solidFill>
              <a:srgbClr val="44506B"/>
            </a:solidFill>
            <a:prstDash val="dash"/>
            <a:tailEnd type="arrow"/>
          </a:ln>
        </p:spPr>
      </p:sp>
      <p:sp>
        <p:nvSpPr>
          <p:cNvPr id="65" name="Text 63"/>
          <p:cNvSpPr txBox="1"/>
          <p:nvPr/>
        </p:nvSpPr>
        <p:spPr>
          <a:xfrm>
            <a:off x="7315200" y="52212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«use»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023360" y="5870448"/>
            <a:ext cx="73609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8E2F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51960" y="5971032"/>
            <a:ext cx="146304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06240" y="6007608"/>
            <a:ext cx="9144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06240" y="6071616"/>
            <a:ext cx="9144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480560" y="59436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(un módulo)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309360" y="6062472"/>
            <a:ext cx="201168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510528" y="5980176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766560" y="5943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que el componente ofrece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098280" y="6062472"/>
            <a:ext cx="365760" cy="0"/>
          </a:xfrm>
          <a:prstGeom prst="line">
            <a:avLst/>
          </a:prstGeom>
          <a:noFill/>
          <a:ln w="12700">
            <a:solidFill>
              <a:srgbClr val="44506B"/>
            </a:solidFill>
            <a:prstDash val="dash"/>
            <a:tailEnd type="arrow"/>
          </a:ln>
        </p:spPr>
      </p:sp>
      <p:sp>
        <p:nvSpPr>
          <p:cNvPr id="75" name="Text 73"/>
          <p:cNvSpPr txBox="1"/>
          <p:nvPr/>
        </p:nvSpPr>
        <p:spPr>
          <a:xfrm>
            <a:off x="9555480" y="59436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/ usa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Arquitectónico de Software para Desarrollo Web</dc:title>
  <dc:subject>PptxGenJS Presentation</dc:subject>
  <dc:creator>Diseño de Software</dc:creator>
  <cp:lastModifiedBy>Diseño de Software</cp:lastModifiedBy>
  <cp:revision>1</cp:revision>
  <dcterms:created xsi:type="dcterms:W3CDTF">2026-09-01T21:21:18Z</dcterms:created>
  <dcterms:modified xsi:type="dcterms:W3CDTF">2026-09-01T21:21:18Z</dcterms:modified>
</cp:coreProperties>
</file>